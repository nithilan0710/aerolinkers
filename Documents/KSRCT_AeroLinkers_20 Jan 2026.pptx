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1573" r:id="rId3"/>
    <p:sldId id="1545" r:id="rId4"/>
    <p:sldId id="1564" r:id="rId5"/>
    <p:sldId id="1565" r:id="rId6"/>
    <p:sldId id="1566" r:id="rId7"/>
    <p:sldId id="1567" r:id="rId8"/>
    <p:sldId id="1568" r:id="rId9"/>
    <p:sldId id="1574" r:id="rId10"/>
    <p:sldId id="1571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383"/>
    <a:srgbClr val="F38221"/>
    <a:srgbClr val="FF6565"/>
    <a:srgbClr val="1C2A5F"/>
    <a:srgbClr val="000B5D"/>
    <a:srgbClr val="A9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EF789-FCA4-4C74-9DBA-446CB62B364B}" v="1" dt="2026-01-20T02:20:42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lan Saravanan" userId="a6f72910624cb1dc" providerId="LiveId" clId="{A3A0904A-F666-491E-9C1A-3B4BCC4DEC11}"/>
    <pc:docChg chg="undo custSel modSld">
      <pc:chgData name="Nithilan Saravanan" userId="a6f72910624cb1dc" providerId="LiveId" clId="{A3A0904A-F666-491E-9C1A-3B4BCC4DEC11}" dt="2026-01-20T02:24:57.493" v="90" actId="732"/>
      <pc:docMkLst>
        <pc:docMk/>
      </pc:docMkLst>
      <pc:sldChg chg="modSp mod">
        <pc:chgData name="Nithilan Saravanan" userId="a6f72910624cb1dc" providerId="LiveId" clId="{A3A0904A-F666-491E-9C1A-3B4BCC4DEC11}" dt="2026-01-20T02:22:23.531" v="65" actId="14100"/>
        <pc:sldMkLst>
          <pc:docMk/>
          <pc:sldMk cId="0" sldId="257"/>
        </pc:sldMkLst>
        <pc:spChg chg="mod">
          <ac:chgData name="Nithilan Saravanan" userId="a6f72910624cb1dc" providerId="LiveId" clId="{A3A0904A-F666-491E-9C1A-3B4BCC4DEC11}" dt="2026-01-20T02:22:02.003" v="63" actId="2710"/>
          <ac:spMkLst>
            <pc:docMk/>
            <pc:sldMk cId="0" sldId="257"/>
            <ac:spMk id="55" creationId="{00000000-0000-0000-0000-000000000000}"/>
          </ac:spMkLst>
        </pc:spChg>
        <pc:grpChg chg="mod">
          <ac:chgData name="Nithilan Saravanan" userId="a6f72910624cb1dc" providerId="LiveId" clId="{A3A0904A-F666-491E-9C1A-3B4BCC4DEC11}" dt="2026-01-20T02:22:23.531" v="65" actId="14100"/>
          <ac:grpSpMkLst>
            <pc:docMk/>
            <pc:sldMk cId="0" sldId="257"/>
            <ac:grpSpMk id="27" creationId="{00000000-0000-0000-0000-000000000000}"/>
          </ac:grpSpMkLst>
        </pc:grpChg>
      </pc:sldChg>
      <pc:sldChg chg="addSp modSp mod">
        <pc:chgData name="Nithilan Saravanan" userId="a6f72910624cb1dc" providerId="LiveId" clId="{A3A0904A-F666-491E-9C1A-3B4BCC4DEC11}" dt="2026-01-20T02:24:57.493" v="90" actId="732"/>
        <pc:sldMkLst>
          <pc:docMk/>
          <pc:sldMk cId="2260237922" sldId="1545"/>
        </pc:sldMkLst>
        <pc:spChg chg="mod ord">
          <ac:chgData name="Nithilan Saravanan" userId="a6f72910624cb1dc" providerId="LiveId" clId="{A3A0904A-F666-491E-9C1A-3B4BCC4DEC11}" dt="2026-01-20T02:24:31.946" v="86" actId="1076"/>
          <ac:spMkLst>
            <pc:docMk/>
            <pc:sldMk cId="2260237922" sldId="1545"/>
            <ac:spMk id="9" creationId="{20DC3B70-8FA7-706F-E00A-33E4673709B0}"/>
          </ac:spMkLst>
        </pc:spChg>
        <pc:picChg chg="mod">
          <ac:chgData name="Nithilan Saravanan" userId="a6f72910624cb1dc" providerId="LiveId" clId="{A3A0904A-F666-491E-9C1A-3B4BCC4DEC11}" dt="2026-01-20T02:24:39.180" v="87" actId="14100"/>
          <ac:picMkLst>
            <pc:docMk/>
            <pc:sldMk cId="2260237922" sldId="1545"/>
            <ac:picMk id="3" creationId="{FEED1CAC-FB27-900C-1B0E-ACEFC5013B8A}"/>
          </ac:picMkLst>
        </pc:picChg>
        <pc:picChg chg="add mod modCrop">
          <ac:chgData name="Nithilan Saravanan" userId="a6f72910624cb1dc" providerId="LiveId" clId="{A3A0904A-F666-491E-9C1A-3B4BCC4DEC11}" dt="2026-01-20T02:24:57.493" v="90" actId="732"/>
          <ac:picMkLst>
            <pc:docMk/>
            <pc:sldMk cId="2260237922" sldId="1545"/>
            <ac:picMk id="5" creationId="{9461C772-E226-73D4-F229-6B46548A277E}"/>
          </ac:picMkLst>
        </pc:picChg>
      </pc:sldChg>
      <pc:sldChg chg="addSp delSp modSp mod delAnim">
        <pc:chgData name="Nithilan Saravanan" userId="a6f72910624cb1dc" providerId="LiveId" clId="{A3A0904A-F666-491E-9C1A-3B4BCC4DEC11}" dt="2026-01-20T02:21:35.179" v="61" actId="1038"/>
        <pc:sldMkLst>
          <pc:docMk/>
          <pc:sldMk cId="1153016339" sldId="1571"/>
        </pc:sldMkLst>
        <pc:picChg chg="del">
          <ac:chgData name="Nithilan Saravanan" userId="a6f72910624cb1dc" providerId="LiveId" clId="{A3A0904A-F666-491E-9C1A-3B4BCC4DEC11}" dt="2026-01-20T02:20:20.232" v="2" actId="478"/>
          <ac:picMkLst>
            <pc:docMk/>
            <pc:sldMk cId="1153016339" sldId="1571"/>
            <ac:picMk id="2" creationId="{58659413-E8D5-36AC-701E-20C2E5222FED}"/>
          </ac:picMkLst>
        </pc:picChg>
        <pc:picChg chg="del">
          <ac:chgData name="Nithilan Saravanan" userId="a6f72910624cb1dc" providerId="LiveId" clId="{A3A0904A-F666-491E-9C1A-3B4BCC4DEC11}" dt="2026-01-20T02:20:22.017" v="3" actId="478"/>
          <ac:picMkLst>
            <pc:docMk/>
            <pc:sldMk cId="1153016339" sldId="1571"/>
            <ac:picMk id="3" creationId="{EE9F176A-03EF-DE83-ACA4-1BCEB9BCBC1D}"/>
          </ac:picMkLst>
        </pc:picChg>
        <pc:picChg chg="del">
          <ac:chgData name="Nithilan Saravanan" userId="a6f72910624cb1dc" providerId="LiveId" clId="{A3A0904A-F666-491E-9C1A-3B4BCC4DEC11}" dt="2026-01-20T02:20:29.066" v="4" actId="478"/>
          <ac:picMkLst>
            <pc:docMk/>
            <pc:sldMk cId="1153016339" sldId="1571"/>
            <ac:picMk id="6" creationId="{23E660B2-B4DD-CD8F-0184-07602AD0BADE}"/>
          </ac:picMkLst>
        </pc:picChg>
        <pc:picChg chg="add mod modCrop">
          <ac:chgData name="Nithilan Saravanan" userId="a6f72910624cb1dc" providerId="LiveId" clId="{A3A0904A-F666-491E-9C1A-3B4BCC4DEC11}" dt="2026-01-20T02:21:35.179" v="61" actId="1038"/>
          <ac:picMkLst>
            <pc:docMk/>
            <pc:sldMk cId="1153016339" sldId="1571"/>
            <ac:picMk id="7" creationId="{8424DB04-2BEB-3D12-0CB4-279167B23404}"/>
          </ac:picMkLst>
        </pc:picChg>
        <pc:picChg chg="del">
          <ac:chgData name="Nithilan Saravanan" userId="a6f72910624cb1dc" providerId="LiveId" clId="{A3A0904A-F666-491E-9C1A-3B4BCC4DEC11}" dt="2026-01-20T02:20:30.648" v="5" actId="478"/>
          <ac:picMkLst>
            <pc:docMk/>
            <pc:sldMk cId="1153016339" sldId="1571"/>
            <ac:picMk id="8" creationId="{8067B492-6F9F-3C92-1E52-CA162FA639BB}"/>
          </ac:picMkLst>
        </pc:picChg>
        <pc:picChg chg="del">
          <ac:chgData name="Nithilan Saravanan" userId="a6f72910624cb1dc" providerId="LiveId" clId="{A3A0904A-F666-491E-9C1A-3B4BCC4DEC11}" dt="2026-01-20T02:20:41.267" v="7" actId="478"/>
          <ac:picMkLst>
            <pc:docMk/>
            <pc:sldMk cId="1153016339" sldId="1571"/>
            <ac:picMk id="10" creationId="{08AEEEF5-0052-59FD-80FF-2A9A9163ED6D}"/>
          </ac:picMkLst>
        </pc:picChg>
        <pc:picChg chg="del">
          <ac:chgData name="Nithilan Saravanan" userId="a6f72910624cb1dc" providerId="LiveId" clId="{A3A0904A-F666-491E-9C1A-3B4BCC4DEC11}" dt="2026-01-20T02:20:40.317" v="6" actId="478"/>
          <ac:picMkLst>
            <pc:docMk/>
            <pc:sldMk cId="1153016339" sldId="1571"/>
            <ac:picMk id="11" creationId="{0EAE6F55-EF8A-5C7B-FEBF-5B312D3E7FF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B75AC-AF49-4E5B-A560-16323D9DA607}" type="slidenum">
              <a:rPr lang="en-IN" smtClean="0"/>
              <a:t>‹#›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7C219-92B9-46B0-9600-5ABBD917FA6F}" type="datetimeFigureOut">
              <a:rPr lang="en-IN" smtClean="0"/>
              <a:t>20-01-2026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90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0C4A3-E6F7-4730-A13D-A38DD671CDC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63518-49CD-4027-8663-8EAA238F9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12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04CF1FB-4DEE-4F62-9617-FD27B1C24529}"/>
              </a:ext>
            </a:extLst>
          </p:cNvPr>
          <p:cNvSpPr/>
          <p:nvPr userDrawn="1"/>
        </p:nvSpPr>
        <p:spPr>
          <a:xfrm>
            <a:off x="-1" y="6782413"/>
            <a:ext cx="9474201" cy="92222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EC5D259-79CA-46AF-8EC7-393D34B6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350" y="1191977"/>
            <a:ext cx="8143797" cy="575959"/>
          </a:xfrm>
        </p:spPr>
        <p:txBody>
          <a:bodyPr anchor="b">
            <a:noAutofit/>
          </a:bodyPr>
          <a:lstStyle>
            <a:lvl1pPr algn="l">
              <a:defRPr sz="3200" b="1">
                <a:solidFill>
                  <a:srgbClr val="000B5D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5936182"/>
            <a:ext cx="12192000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title 2"/>
          <p:cNvSpPr txBox="1">
            <a:spLocks/>
          </p:cNvSpPr>
          <p:nvPr userDrawn="1"/>
        </p:nvSpPr>
        <p:spPr>
          <a:xfrm>
            <a:off x="4093030" y="4962228"/>
            <a:ext cx="6332680" cy="6771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chemeClr val="bg1"/>
                </a:solidFill>
              </a:rPr>
              <a:t>K.S.RANGASAMY</a:t>
            </a:r>
            <a:r>
              <a:rPr lang="en-US" sz="2200" b="1" baseline="0" dirty="0">
                <a:solidFill>
                  <a:schemeClr val="bg1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bg1"/>
                </a:solidFill>
              </a:rPr>
              <a:t>(Autonomous)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40C63165-A391-4393-985D-7696AE760510}"/>
              </a:ext>
            </a:extLst>
          </p:cNvPr>
          <p:cNvSpPr txBox="1">
            <a:spLocks/>
          </p:cNvSpPr>
          <p:nvPr userDrawn="1"/>
        </p:nvSpPr>
        <p:spPr>
          <a:xfrm>
            <a:off x="4093030" y="6251947"/>
            <a:ext cx="1813963" cy="336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E51A7-A4B6-4A3C-906D-6FB9399730FF}"/>
              </a:ext>
            </a:extLst>
          </p:cNvPr>
          <p:cNvSpPr/>
          <p:nvPr userDrawn="1"/>
        </p:nvSpPr>
        <p:spPr>
          <a:xfrm>
            <a:off x="9474201" y="0"/>
            <a:ext cx="2717800" cy="68580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3C49E6-4F34-4172-8C76-11DA24DEF408}"/>
              </a:ext>
            </a:extLst>
          </p:cNvPr>
          <p:cNvSpPr>
            <a:spLocks noChangeAspect="1"/>
          </p:cNvSpPr>
          <p:nvPr userDrawn="1"/>
        </p:nvSpPr>
        <p:spPr>
          <a:xfrm>
            <a:off x="8430612" y="2385911"/>
            <a:ext cx="2086179" cy="208617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382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6F116E-5D05-462E-A9C8-9992B70868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8616099" y="2643517"/>
            <a:ext cx="1744539" cy="1570967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3B4A3536-71CD-4F93-91E3-12467C39525D}"/>
              </a:ext>
            </a:extLst>
          </p:cNvPr>
          <p:cNvSpPr txBox="1">
            <a:spLocks/>
          </p:cNvSpPr>
          <p:nvPr userDrawn="1"/>
        </p:nvSpPr>
        <p:spPr>
          <a:xfrm>
            <a:off x="573406" y="6204556"/>
            <a:ext cx="2197709" cy="346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1C2A5F"/>
                </a:solidFill>
              </a:rPr>
              <a:t>www.ksrct.ac.in</a:t>
            </a:r>
            <a:endParaRPr lang="en-IN" sz="2000" b="1" dirty="0">
              <a:solidFill>
                <a:srgbClr val="1C2A5F"/>
              </a:solidFill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021A7B8-5FA3-4F5E-87B4-122CFDC24F92}"/>
              </a:ext>
            </a:extLst>
          </p:cNvPr>
          <p:cNvSpPr txBox="1">
            <a:spLocks/>
          </p:cNvSpPr>
          <p:nvPr userDrawn="1"/>
        </p:nvSpPr>
        <p:spPr>
          <a:xfrm>
            <a:off x="431599" y="4595242"/>
            <a:ext cx="7726882" cy="831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1C2A5F"/>
                </a:solidFill>
              </a:rPr>
              <a:t>K.S.RANGASAMY</a:t>
            </a:r>
            <a:r>
              <a:rPr lang="en-US" sz="2400" b="1" baseline="0" dirty="0">
                <a:solidFill>
                  <a:srgbClr val="1C2A5F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(Autonomous)</a:t>
            </a:r>
            <a:endParaRPr lang="en-IN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EF89A7-2EC3-4C2F-8CD5-38EBD9C9E7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93"/>
          <a:stretch/>
        </p:blipFill>
        <p:spPr>
          <a:xfrm rot="5400000">
            <a:off x="10701751" y="908991"/>
            <a:ext cx="401380" cy="7713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697074-93F8-40F8-8E14-4CE66307DC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36" y="5731534"/>
            <a:ext cx="1624130" cy="331845"/>
          </a:xfrm>
          <a:prstGeom prst="rect">
            <a:avLst/>
          </a:prstGeom>
        </p:spPr>
      </p:pic>
      <p:sp>
        <p:nvSpPr>
          <p:cNvPr id="27" name="Rounded Rectangle 21">
            <a:extLst>
              <a:ext uri="{FF2B5EF4-FFF2-40B4-BE49-F238E27FC236}">
                <a16:creationId xmlns:a16="http://schemas.microsoft.com/office/drawing/2014/main" id="{66B86EF8-DB93-4781-B3FA-DD81D492F90C}"/>
              </a:ext>
            </a:extLst>
          </p:cNvPr>
          <p:cNvSpPr/>
          <p:nvPr userDrawn="1"/>
        </p:nvSpPr>
        <p:spPr>
          <a:xfrm>
            <a:off x="454594" y="6164905"/>
            <a:ext cx="64800" cy="406800"/>
          </a:xfrm>
          <a:prstGeom prst="roundRect">
            <a:avLst/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8DDD73EE-23E8-462A-BC92-730C6313E4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47267" y="6190305"/>
            <a:ext cx="2305140" cy="401317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  <a:endParaRPr lang="en-IN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BD73942-97CD-4497-8A61-44BF739260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4331" y="3522026"/>
            <a:ext cx="5964723" cy="424306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F3822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Presenter Name</a:t>
            </a:r>
            <a:endParaRPr lang="en-IN" dirty="0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D74FE863-7610-4877-9C83-5B3B1995EF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194" y="4093423"/>
            <a:ext cx="5940998" cy="362947"/>
          </a:xfrm>
        </p:spPr>
        <p:txBody>
          <a:bodyPr>
            <a:normAutofit/>
          </a:bodyPr>
          <a:lstStyle>
            <a:lvl1pPr marL="0" indent="0">
              <a:buNone/>
              <a:defRPr sz="1900" baseline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Department</a:t>
            </a:r>
            <a:endParaRPr lang="en-IN" dirty="0"/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E6A548E4-D588-481A-ADE5-309DF80093C2}"/>
              </a:ext>
            </a:extLst>
          </p:cNvPr>
          <p:cNvSpPr/>
          <p:nvPr userDrawn="1"/>
        </p:nvSpPr>
        <p:spPr>
          <a:xfrm>
            <a:off x="490342" y="1132961"/>
            <a:ext cx="136191" cy="704097"/>
          </a:xfrm>
          <a:prstGeom prst="round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B51DC79-A4CE-4981-B142-8D9D7B73052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9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1" y="3598605"/>
            <a:ext cx="537328" cy="1917291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763570" y="3608436"/>
            <a:ext cx="8502349" cy="765995"/>
          </a:xfrm>
        </p:spPr>
        <p:txBody>
          <a:bodyPr>
            <a:normAutofit/>
          </a:bodyPr>
          <a:lstStyle>
            <a:lvl1pPr algn="l">
              <a:defRPr sz="32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Rectangle 14"/>
          <p:cNvSpPr/>
          <p:nvPr userDrawn="1"/>
        </p:nvSpPr>
        <p:spPr>
          <a:xfrm>
            <a:off x="9448800" y="3598604"/>
            <a:ext cx="2743200" cy="1917291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/>
          <p:cNvCxnSpPr>
            <a:cxnSpLocks/>
          </p:cNvCxnSpPr>
          <p:nvPr userDrawn="1"/>
        </p:nvCxnSpPr>
        <p:spPr>
          <a:xfrm>
            <a:off x="763571" y="4707993"/>
            <a:ext cx="8502349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3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2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63571" y="4994365"/>
            <a:ext cx="8502349" cy="460582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17A328-A301-4B1E-8636-F7A2FA5378D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6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812" y="1726770"/>
            <a:ext cx="10936467" cy="4396635"/>
          </a:xfrm>
        </p:spPr>
        <p:txBody>
          <a:bodyPr>
            <a:normAutofit/>
          </a:bodyPr>
          <a:lstStyle>
            <a:lvl1pPr>
              <a:lnSpc>
                <a:spcPts val="2880"/>
              </a:lnSpc>
              <a:defRPr sz="24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ts val="2880"/>
              </a:lnSpc>
              <a:defRPr sz="20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ts val="2880"/>
              </a:lnSpc>
              <a:defRPr sz="18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31" name="Rounded Rectangle 30"/>
          <p:cNvSpPr/>
          <p:nvPr userDrawn="1"/>
        </p:nvSpPr>
        <p:spPr>
          <a:xfrm>
            <a:off x="698500" y="1349372"/>
            <a:ext cx="906463" cy="54603"/>
          </a:xfrm>
          <a:prstGeom prst="roundRect">
            <a:avLst>
              <a:gd name="adj" fmla="val 50000"/>
            </a:avLst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CA9FEA-5CEE-4F7A-A457-1CCAE5DF70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7B0786-1107-4794-B9A1-D62C76F8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A89405C6-6DC8-4382-BC34-8D5DFB17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99538A48-E6DB-463C-8094-5B83EB63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1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813" y="1555216"/>
            <a:ext cx="5472026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9173" y="1549857"/>
            <a:ext cx="5480711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D7F617-22AE-45E1-B868-6BCDD9387FF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515DC45-FFC2-4242-AAD1-C20D321863E9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2FC8B40-DFEC-47A6-ADB6-961A308C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5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0" y="4556034"/>
            <a:ext cx="12192000" cy="21756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439064" y="1707178"/>
            <a:ext cx="11313872" cy="765995"/>
          </a:xfrm>
        </p:spPr>
        <p:txBody>
          <a:bodyPr>
            <a:normAutofit/>
          </a:bodyPr>
          <a:lstStyle>
            <a:lvl1pPr algn="ctr">
              <a:defRPr sz="44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48" name="Rectangle 47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Subtitle 2"/>
          <p:cNvSpPr txBox="1">
            <a:spLocks/>
          </p:cNvSpPr>
          <p:nvPr userDrawn="1"/>
        </p:nvSpPr>
        <p:spPr>
          <a:xfrm>
            <a:off x="1971368" y="4748566"/>
            <a:ext cx="8249264" cy="135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K.S.RANGASAMY</a:t>
            </a:r>
            <a:r>
              <a:rPr lang="en-US" sz="2800" b="1" baseline="0" dirty="0">
                <a:solidFill>
                  <a:schemeClr val="bg1"/>
                </a:solidFill>
              </a:rPr>
              <a:t> COLLEGE OF TECHNOLOGY 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(Autonomous)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Tiruchengode – 637 215. </a:t>
            </a:r>
            <a:r>
              <a:rPr lang="en-US" sz="1600" b="1" baseline="0" dirty="0" err="1">
                <a:solidFill>
                  <a:schemeClr val="bg1"/>
                </a:solidFill>
              </a:rPr>
              <a:t>Namakkal</a:t>
            </a:r>
            <a:r>
              <a:rPr lang="en-US" sz="1600" b="1" baseline="0" dirty="0">
                <a:solidFill>
                  <a:schemeClr val="bg1"/>
                </a:solidFill>
              </a:rPr>
              <a:t> Dt. Tamil Nadu. India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1" name="Subtitle 2"/>
          <p:cNvSpPr txBox="1">
            <a:spLocks/>
          </p:cNvSpPr>
          <p:nvPr userDrawn="1"/>
        </p:nvSpPr>
        <p:spPr>
          <a:xfrm>
            <a:off x="451408" y="6173547"/>
            <a:ext cx="1813963" cy="319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52" name="Subtitle 2"/>
          <p:cNvSpPr txBox="1">
            <a:spLocks/>
          </p:cNvSpPr>
          <p:nvPr userDrawn="1"/>
        </p:nvSpPr>
        <p:spPr>
          <a:xfrm>
            <a:off x="10717161" y="6182938"/>
            <a:ext cx="1283021" cy="402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/ksrct1994</a:t>
            </a:r>
            <a:endParaRPr lang="en-IN" sz="1600" b="0" dirty="0">
              <a:solidFill>
                <a:schemeClr val="bg1"/>
              </a:solidFill>
            </a:endParaRPr>
          </a:p>
        </p:txBody>
      </p:sp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01" y="6197233"/>
            <a:ext cx="1282035" cy="272404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5399226" y="3086079"/>
            <a:ext cx="1393548" cy="1254898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04"/>
          <a:stretch/>
        </p:blipFill>
        <p:spPr>
          <a:xfrm flipV="1">
            <a:off x="10735934" y="522077"/>
            <a:ext cx="771302" cy="461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EBA141-EE25-46E3-8F08-D8BF5D4F33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2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824FF-5393-8462-7E31-673F60A4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A67B-D0BD-41FE-BB21-2BC598655EF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17317-D79C-627D-455E-37DA2540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84E51-0EAD-2A3B-6BE5-3F46C4A0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AB04-FA4F-437C-AC2E-C05AEE6E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00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A4932-3B2E-45C6-B621-E5DE29EAC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97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5" r:id="rId2"/>
    <p:sldLayoutId id="2147483650" r:id="rId3"/>
    <p:sldLayoutId id="2147483652" r:id="rId4"/>
    <p:sldLayoutId id="2147483654" r:id="rId5"/>
    <p:sldLayoutId id="214748365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6782413"/>
            <a:ext cx="9474201" cy="92222"/>
            <a:chOff x="0" y="0"/>
            <a:chExt cx="18948402" cy="184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48400" cy="184404"/>
            </a:xfrm>
            <a:custGeom>
              <a:avLst/>
              <a:gdLst/>
              <a:ahLst/>
              <a:cxnLst/>
              <a:rect l="l" t="t" r="r" b="b"/>
              <a:pathLst>
                <a:path w="18948400" h="184404">
                  <a:moveTo>
                    <a:pt x="0" y="0"/>
                  </a:moveTo>
                  <a:lnTo>
                    <a:pt x="18948400" y="0"/>
                  </a:lnTo>
                  <a:lnTo>
                    <a:pt x="18948400" y="184404"/>
                  </a:lnTo>
                  <a:lnTo>
                    <a:pt x="0" y="184404"/>
                  </a:lnTo>
                  <a:close/>
                </a:path>
              </a:pathLst>
            </a:custGeom>
            <a:solidFill>
              <a:srgbClr val="F38221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4" name="AutoShape 4"/>
          <p:cNvSpPr/>
          <p:nvPr/>
        </p:nvSpPr>
        <p:spPr>
          <a:xfrm rot="8038">
            <a:off x="-14304" y="5929832"/>
            <a:ext cx="12220609" cy="0"/>
          </a:xfrm>
          <a:prstGeom prst="line">
            <a:avLst/>
          </a:prstGeom>
          <a:ln w="19050" cap="rnd">
            <a:solidFill>
              <a:srgbClr val="A9AAA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200"/>
          </a:p>
        </p:txBody>
      </p:sp>
      <p:grpSp>
        <p:nvGrpSpPr>
          <p:cNvPr id="5" name="Group 5"/>
          <p:cNvGrpSpPr/>
          <p:nvPr/>
        </p:nvGrpSpPr>
        <p:grpSpPr>
          <a:xfrm>
            <a:off x="4093030" y="4962228"/>
            <a:ext cx="6332680" cy="677161"/>
            <a:chOff x="0" y="0"/>
            <a:chExt cx="12665360" cy="13543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65360" cy="1354322"/>
            </a:xfrm>
            <a:custGeom>
              <a:avLst/>
              <a:gdLst/>
              <a:ahLst/>
              <a:cxnLst/>
              <a:rect l="l" t="t" r="r" b="b"/>
              <a:pathLst>
                <a:path w="12665360" h="1354322">
                  <a:moveTo>
                    <a:pt x="0" y="0"/>
                  </a:moveTo>
                  <a:lnTo>
                    <a:pt x="12665360" y="0"/>
                  </a:lnTo>
                  <a:lnTo>
                    <a:pt x="12665360" y="1354322"/>
                  </a:lnTo>
                  <a:lnTo>
                    <a:pt x="0" y="1354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2665360" cy="13257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376"/>
                </a:lnSpc>
              </a:pPr>
              <a:r>
                <a:rPr lang="en-US" sz="2200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K.S.RANGASAMY COLLEGE OF TECHNOLOGY </a:t>
              </a:r>
            </a:p>
            <a:p>
              <a:pPr>
                <a:lnSpc>
                  <a:spcPts val="1944"/>
                </a:lnSpc>
              </a:pPr>
              <a:r>
                <a:rPr lang="en-US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(Autonomous)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74201" y="0"/>
            <a:ext cx="2717800" cy="6858000"/>
            <a:chOff x="0" y="0"/>
            <a:chExt cx="5435600" cy="1371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35600" cy="13716000"/>
            </a:xfrm>
            <a:custGeom>
              <a:avLst/>
              <a:gdLst/>
              <a:ahLst/>
              <a:cxnLst/>
              <a:rect l="l" t="t" r="r" b="b"/>
              <a:pathLst>
                <a:path w="5435600" h="13716000">
                  <a:moveTo>
                    <a:pt x="0" y="0"/>
                  </a:moveTo>
                  <a:lnTo>
                    <a:pt x="5435600" y="0"/>
                  </a:lnTo>
                  <a:lnTo>
                    <a:pt x="5435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2A5F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16325" y="2371624"/>
            <a:ext cx="2114754" cy="2114754"/>
            <a:chOff x="0" y="0"/>
            <a:chExt cx="4229508" cy="4229508"/>
          </a:xfrm>
        </p:grpSpPr>
        <p:sp>
          <p:nvSpPr>
            <p:cNvPr id="14" name="Freeform 14"/>
            <p:cNvSpPr/>
            <p:nvPr/>
          </p:nvSpPr>
          <p:spPr>
            <a:xfrm>
              <a:off x="28575" y="28575"/>
              <a:ext cx="4172331" cy="4172331"/>
            </a:xfrm>
            <a:custGeom>
              <a:avLst/>
              <a:gdLst/>
              <a:ahLst/>
              <a:cxnLst/>
              <a:rect l="l" t="t" r="r" b="b"/>
              <a:pathLst>
                <a:path w="4172331" h="4172331">
                  <a:moveTo>
                    <a:pt x="0" y="2086229"/>
                  </a:moveTo>
                  <a:cubicBezTo>
                    <a:pt x="0" y="933958"/>
                    <a:pt x="933958" y="0"/>
                    <a:pt x="2086229" y="0"/>
                  </a:cubicBezTo>
                  <a:cubicBezTo>
                    <a:pt x="3238500" y="0"/>
                    <a:pt x="4172331" y="933958"/>
                    <a:pt x="4172331" y="2086229"/>
                  </a:cubicBezTo>
                  <a:cubicBezTo>
                    <a:pt x="4172331" y="3238500"/>
                    <a:pt x="3238373" y="4172331"/>
                    <a:pt x="2086229" y="4172331"/>
                  </a:cubicBezTo>
                  <a:cubicBezTo>
                    <a:pt x="934085" y="4172331"/>
                    <a:pt x="0" y="3238373"/>
                    <a:pt x="0" y="208622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4229608" cy="4229608"/>
            </a:xfrm>
            <a:custGeom>
              <a:avLst/>
              <a:gdLst/>
              <a:ahLst/>
              <a:cxnLst/>
              <a:rect l="l" t="t" r="r" b="b"/>
              <a:pathLst>
                <a:path w="4229608" h="4229608">
                  <a:moveTo>
                    <a:pt x="0" y="2114804"/>
                  </a:moveTo>
                  <a:cubicBezTo>
                    <a:pt x="0" y="946785"/>
                    <a:pt x="946785" y="0"/>
                    <a:pt x="2114804" y="0"/>
                  </a:cubicBezTo>
                  <a:lnTo>
                    <a:pt x="2114804" y="28575"/>
                  </a:lnTo>
                  <a:lnTo>
                    <a:pt x="2114804" y="0"/>
                  </a:lnTo>
                  <a:cubicBezTo>
                    <a:pt x="3282696" y="0"/>
                    <a:pt x="4229608" y="946785"/>
                    <a:pt x="4229608" y="2114804"/>
                  </a:cubicBezTo>
                  <a:lnTo>
                    <a:pt x="4201033" y="2114804"/>
                  </a:lnTo>
                  <a:lnTo>
                    <a:pt x="4229608" y="2114804"/>
                  </a:lnTo>
                  <a:cubicBezTo>
                    <a:pt x="4229608" y="3282696"/>
                    <a:pt x="3282823" y="4229608"/>
                    <a:pt x="2114804" y="4229608"/>
                  </a:cubicBezTo>
                  <a:lnTo>
                    <a:pt x="2114804" y="4201033"/>
                  </a:lnTo>
                  <a:lnTo>
                    <a:pt x="2114804" y="4229608"/>
                  </a:lnTo>
                  <a:cubicBezTo>
                    <a:pt x="946785" y="4229481"/>
                    <a:pt x="0" y="3282696"/>
                    <a:pt x="0" y="2114804"/>
                  </a:cubicBezTo>
                  <a:lnTo>
                    <a:pt x="28575" y="2114804"/>
                  </a:lnTo>
                  <a:lnTo>
                    <a:pt x="57150" y="2114804"/>
                  </a:lnTo>
                  <a:lnTo>
                    <a:pt x="28575" y="2114804"/>
                  </a:lnTo>
                  <a:lnTo>
                    <a:pt x="0" y="2114804"/>
                  </a:lnTo>
                  <a:moveTo>
                    <a:pt x="57150" y="2114804"/>
                  </a:moveTo>
                  <a:cubicBezTo>
                    <a:pt x="57150" y="2130552"/>
                    <a:pt x="44323" y="2143379"/>
                    <a:pt x="28575" y="2143379"/>
                  </a:cubicBezTo>
                  <a:cubicBezTo>
                    <a:pt x="12827" y="2143379"/>
                    <a:pt x="0" y="2130552"/>
                    <a:pt x="0" y="2114804"/>
                  </a:cubicBezTo>
                  <a:cubicBezTo>
                    <a:pt x="0" y="2099056"/>
                    <a:pt x="12827" y="2086229"/>
                    <a:pt x="28575" y="2086229"/>
                  </a:cubicBezTo>
                  <a:cubicBezTo>
                    <a:pt x="44323" y="2086229"/>
                    <a:pt x="57150" y="2099056"/>
                    <a:pt x="57150" y="2114804"/>
                  </a:cubicBezTo>
                  <a:cubicBezTo>
                    <a:pt x="57150" y="3251200"/>
                    <a:pt x="978408" y="4172331"/>
                    <a:pt x="2114804" y="4172331"/>
                  </a:cubicBezTo>
                  <a:cubicBezTo>
                    <a:pt x="3251200" y="4172331"/>
                    <a:pt x="4172331" y="3251200"/>
                    <a:pt x="4172331" y="2114804"/>
                  </a:cubicBezTo>
                  <a:cubicBezTo>
                    <a:pt x="4172331" y="978408"/>
                    <a:pt x="3251200" y="57150"/>
                    <a:pt x="2114804" y="57150"/>
                  </a:cubicBezTo>
                  <a:lnTo>
                    <a:pt x="2114804" y="28575"/>
                  </a:lnTo>
                  <a:lnTo>
                    <a:pt x="2114804" y="57150"/>
                  </a:lnTo>
                  <a:cubicBezTo>
                    <a:pt x="978408" y="57150"/>
                    <a:pt x="57150" y="978408"/>
                    <a:pt x="57150" y="2114804"/>
                  </a:cubicBezTo>
                  <a:close/>
                </a:path>
              </a:pathLst>
            </a:custGeom>
            <a:solidFill>
              <a:srgbClr val="F38221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3406" y="6204556"/>
            <a:ext cx="2197709" cy="346298"/>
            <a:chOff x="0" y="0"/>
            <a:chExt cx="4395418" cy="6925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95418" cy="692596"/>
            </a:xfrm>
            <a:custGeom>
              <a:avLst/>
              <a:gdLst/>
              <a:ahLst/>
              <a:cxnLst/>
              <a:rect l="l" t="t" r="r" b="b"/>
              <a:pathLst>
                <a:path w="4395418" h="692596">
                  <a:moveTo>
                    <a:pt x="0" y="0"/>
                  </a:moveTo>
                  <a:lnTo>
                    <a:pt x="4395418" y="0"/>
                  </a:lnTo>
                  <a:lnTo>
                    <a:pt x="4395418" y="692596"/>
                  </a:lnTo>
                  <a:lnTo>
                    <a:pt x="0" y="6925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4395418" cy="6354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1944"/>
                </a:lnSpc>
              </a:pPr>
              <a:r>
                <a:rPr lang="en-US" sz="2000" b="1" dirty="0">
                  <a:solidFill>
                    <a:srgbClr val="1C2A5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www.ksrct.ac.in</a:t>
              </a:r>
            </a:p>
          </p:txBody>
        </p:sp>
      </p:grpSp>
      <p:sp>
        <p:nvSpPr>
          <p:cNvPr id="23" name="Freeform 23"/>
          <p:cNvSpPr/>
          <p:nvPr/>
        </p:nvSpPr>
        <p:spPr>
          <a:xfrm rot="5400000">
            <a:off x="10701751" y="908991"/>
            <a:ext cx="401380" cy="771301"/>
          </a:xfrm>
          <a:custGeom>
            <a:avLst/>
            <a:gdLst/>
            <a:ahLst/>
            <a:cxnLst/>
            <a:rect l="l" t="t" r="r" b="b"/>
            <a:pathLst>
              <a:path w="602070" h="1156951">
                <a:moveTo>
                  <a:pt x="0" y="0"/>
                </a:moveTo>
                <a:lnTo>
                  <a:pt x="602070" y="0"/>
                </a:lnTo>
                <a:lnTo>
                  <a:pt x="602070" y="1156952"/>
                </a:lnTo>
                <a:lnTo>
                  <a:pt x="0" y="1156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0939" r="-558"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24" name="Freeform 24"/>
          <p:cNvSpPr/>
          <p:nvPr/>
        </p:nvSpPr>
        <p:spPr>
          <a:xfrm>
            <a:off x="10021036" y="5731534"/>
            <a:ext cx="1624130" cy="331845"/>
          </a:xfrm>
          <a:custGeom>
            <a:avLst/>
            <a:gdLst/>
            <a:ahLst/>
            <a:cxnLst/>
            <a:rect l="l" t="t" r="r" b="b"/>
            <a:pathLst>
              <a:path w="2436195" h="497768">
                <a:moveTo>
                  <a:pt x="0" y="0"/>
                </a:moveTo>
                <a:lnTo>
                  <a:pt x="2436195" y="0"/>
                </a:lnTo>
                <a:lnTo>
                  <a:pt x="2436195" y="497768"/>
                </a:lnTo>
                <a:lnTo>
                  <a:pt x="0" y="497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" b="-197"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25" name="Group 25"/>
          <p:cNvGrpSpPr/>
          <p:nvPr/>
        </p:nvGrpSpPr>
        <p:grpSpPr>
          <a:xfrm>
            <a:off x="454594" y="6164905"/>
            <a:ext cx="64800" cy="406800"/>
            <a:chOff x="0" y="0"/>
            <a:chExt cx="129600" cy="813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9540" cy="813562"/>
            </a:xfrm>
            <a:custGeom>
              <a:avLst/>
              <a:gdLst/>
              <a:ahLst/>
              <a:cxnLst/>
              <a:rect l="l" t="t" r="r" b="b"/>
              <a:pathLst>
                <a:path w="129540" h="813562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107950" y="0"/>
                  </a:lnTo>
                  <a:cubicBezTo>
                    <a:pt x="119888" y="0"/>
                    <a:pt x="129540" y="9652"/>
                    <a:pt x="129540" y="21590"/>
                  </a:cubicBezTo>
                  <a:lnTo>
                    <a:pt x="129540" y="791972"/>
                  </a:lnTo>
                  <a:cubicBezTo>
                    <a:pt x="129540" y="803910"/>
                    <a:pt x="119888" y="813562"/>
                    <a:pt x="107950" y="813562"/>
                  </a:cubicBezTo>
                  <a:lnTo>
                    <a:pt x="21590" y="813562"/>
                  </a:lnTo>
                  <a:cubicBezTo>
                    <a:pt x="9652" y="813562"/>
                    <a:pt x="0" y="803910"/>
                    <a:pt x="0" y="791972"/>
                  </a:cubicBezTo>
                  <a:close/>
                </a:path>
              </a:pathLst>
            </a:custGeom>
            <a:solidFill>
              <a:srgbClr val="A9AAAE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9363" y="530546"/>
            <a:ext cx="107171" cy="1841078"/>
            <a:chOff x="0" y="0"/>
            <a:chExt cx="272382" cy="14081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2288" cy="1408176"/>
            </a:xfrm>
            <a:custGeom>
              <a:avLst/>
              <a:gdLst/>
              <a:ahLst/>
              <a:cxnLst/>
              <a:rect l="l" t="t" r="r" b="b"/>
              <a:pathLst>
                <a:path w="272288" h="140817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6949" y="0"/>
                  </a:lnTo>
                  <a:cubicBezTo>
                    <a:pt x="251968" y="0"/>
                    <a:pt x="272288" y="20320"/>
                    <a:pt x="272288" y="45339"/>
                  </a:cubicBezTo>
                  <a:lnTo>
                    <a:pt x="272288" y="1362837"/>
                  </a:lnTo>
                  <a:cubicBezTo>
                    <a:pt x="272288" y="1387856"/>
                    <a:pt x="251968" y="1408176"/>
                    <a:pt x="226949" y="1408176"/>
                  </a:cubicBezTo>
                  <a:lnTo>
                    <a:pt x="45339" y="1408176"/>
                  </a:lnTo>
                  <a:cubicBezTo>
                    <a:pt x="20320" y="1408176"/>
                    <a:pt x="0" y="1387856"/>
                    <a:pt x="0" y="1362837"/>
                  </a:cubicBezTo>
                  <a:close/>
                </a:path>
              </a:pathLst>
            </a:custGeom>
            <a:solidFill>
              <a:srgbClr val="F38221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29" name="Freeform 29"/>
          <p:cNvSpPr/>
          <p:nvPr/>
        </p:nvSpPr>
        <p:spPr>
          <a:xfrm>
            <a:off x="0" y="-11976"/>
            <a:ext cx="3544389" cy="266366"/>
          </a:xfrm>
          <a:custGeom>
            <a:avLst/>
            <a:gdLst/>
            <a:ahLst/>
            <a:cxnLst/>
            <a:rect l="l" t="t" r="r" b="b"/>
            <a:pathLst>
              <a:path w="5316584" h="399549">
                <a:moveTo>
                  <a:pt x="0" y="0"/>
                </a:moveTo>
                <a:lnTo>
                  <a:pt x="5316584" y="0"/>
                </a:lnTo>
                <a:lnTo>
                  <a:pt x="5316584" y="399549"/>
                </a:lnTo>
                <a:lnTo>
                  <a:pt x="0" y="39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33" name="Group 33"/>
          <p:cNvGrpSpPr/>
          <p:nvPr/>
        </p:nvGrpSpPr>
        <p:grpSpPr>
          <a:xfrm>
            <a:off x="7809443" y="6276474"/>
            <a:ext cx="1213764" cy="401317"/>
            <a:chOff x="0" y="0"/>
            <a:chExt cx="2427528" cy="80263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427528" cy="802634"/>
            </a:xfrm>
            <a:custGeom>
              <a:avLst/>
              <a:gdLst/>
              <a:ahLst/>
              <a:cxnLst/>
              <a:rect l="l" t="t" r="r" b="b"/>
              <a:pathLst>
                <a:path w="2427528" h="802634">
                  <a:moveTo>
                    <a:pt x="0" y="0"/>
                  </a:moveTo>
                  <a:lnTo>
                    <a:pt x="2427528" y="0"/>
                  </a:lnTo>
                  <a:lnTo>
                    <a:pt x="2427528" y="802634"/>
                  </a:lnTo>
                  <a:lnTo>
                    <a:pt x="0" y="802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9050"/>
              <a:ext cx="2427528" cy="78358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1944"/>
                </a:lnSpc>
              </a:pPr>
              <a:r>
                <a:rPr lang="en-US" dirty="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20.01.2026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184566" y="6137318"/>
            <a:ext cx="1297069" cy="565873"/>
            <a:chOff x="0" y="0"/>
            <a:chExt cx="2594139" cy="1131745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2594139" cy="1131745"/>
              <a:chOff x="0" y="0"/>
              <a:chExt cx="512422" cy="22355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512423" cy="223555"/>
              </a:xfrm>
              <a:custGeom>
                <a:avLst/>
                <a:gdLst/>
                <a:ahLst/>
                <a:cxnLst/>
                <a:rect l="l" t="t" r="r" b="b"/>
                <a:pathLst>
                  <a:path w="512423" h="223555">
                    <a:moveTo>
                      <a:pt x="111777" y="0"/>
                    </a:moveTo>
                    <a:lnTo>
                      <a:pt x="400645" y="0"/>
                    </a:lnTo>
                    <a:cubicBezTo>
                      <a:pt x="462378" y="0"/>
                      <a:pt x="512423" y="50044"/>
                      <a:pt x="512423" y="111777"/>
                    </a:cubicBezTo>
                    <a:lnTo>
                      <a:pt x="512423" y="111777"/>
                    </a:lnTo>
                    <a:cubicBezTo>
                      <a:pt x="512423" y="173510"/>
                      <a:pt x="462378" y="223555"/>
                      <a:pt x="400645" y="223555"/>
                    </a:cubicBezTo>
                    <a:lnTo>
                      <a:pt x="111777" y="223555"/>
                    </a:lnTo>
                    <a:cubicBezTo>
                      <a:pt x="50044" y="223555"/>
                      <a:pt x="0" y="173510"/>
                      <a:pt x="0" y="111777"/>
                    </a:cubicBezTo>
                    <a:lnTo>
                      <a:pt x="0" y="111777"/>
                    </a:lnTo>
                    <a:cubicBezTo>
                      <a:pt x="0" y="50044"/>
                      <a:pt x="50044" y="0"/>
                      <a:pt x="11177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9050"/>
                <a:ext cx="512422" cy="2045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28"/>
                  </a:lnSpc>
                </a:pPr>
                <a:endParaRPr sz="1200"/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218945" y="19356"/>
              <a:ext cx="2146599" cy="1015839"/>
            </a:xfrm>
            <a:custGeom>
              <a:avLst/>
              <a:gdLst/>
              <a:ahLst/>
              <a:cxnLst/>
              <a:rect l="l" t="t" r="r" b="b"/>
              <a:pathLst>
                <a:path w="2146599" h="1015839">
                  <a:moveTo>
                    <a:pt x="0" y="0"/>
                  </a:moveTo>
                  <a:lnTo>
                    <a:pt x="2146599" y="0"/>
                  </a:lnTo>
                  <a:lnTo>
                    <a:pt x="2146599" y="1015839"/>
                  </a:lnTo>
                  <a:lnTo>
                    <a:pt x="0" y="1015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26487" y="4361097"/>
            <a:ext cx="7354849" cy="134009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Mr. S. Nithilan, IV-ECE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Ms. S. Monisa, II-ECE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Mr. T. P. Nishanth, II-ECE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021399" y="1867524"/>
            <a:ext cx="8570902" cy="4094974"/>
            <a:chOff x="0" y="-7304492"/>
            <a:chExt cx="17141803" cy="81899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7141803" cy="885456"/>
            </a:xfrm>
            <a:custGeom>
              <a:avLst/>
              <a:gdLst/>
              <a:ahLst/>
              <a:cxnLst/>
              <a:rect l="l" t="t" r="r" b="b"/>
              <a:pathLst>
                <a:path w="17141803" h="885456">
                  <a:moveTo>
                    <a:pt x="0" y="0"/>
                  </a:moveTo>
                  <a:lnTo>
                    <a:pt x="17141803" y="0"/>
                  </a:lnTo>
                  <a:lnTo>
                    <a:pt x="17141803" y="885456"/>
                  </a:lnTo>
                  <a:lnTo>
                    <a:pt x="0" y="885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00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26692" y="-7304492"/>
              <a:ext cx="9655615" cy="8568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592"/>
                </a:lnSpc>
              </a:pPr>
              <a:r>
                <a:rPr lang="en-US" sz="1200" b="1" dirty="0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DEPARTMENT OF ELECTRONICS AND COMMUNICATION ENGINEERING</a:t>
              </a:r>
            </a:p>
          </p:txBody>
        </p:sp>
      </p:grpSp>
      <p:pic>
        <p:nvPicPr>
          <p:cNvPr id="36" name="pic">
            <a:extLst>
              <a:ext uri="{FF2B5EF4-FFF2-40B4-BE49-F238E27FC236}">
                <a16:creationId xmlns:a16="http://schemas.microsoft.com/office/drawing/2014/main" id="{28263F97-7B84-3754-5E72-5CBE15B182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3908" y="457906"/>
            <a:ext cx="3100000" cy="1630000"/>
          </a:xfrm>
          <a:prstGeom prst="rect">
            <a:avLst/>
          </a:prstGeom>
        </p:spPr>
      </p:pic>
      <p:pic>
        <p:nvPicPr>
          <p:cNvPr id="38" name="pic">
            <a:extLst>
              <a:ext uri="{FF2B5EF4-FFF2-40B4-BE49-F238E27FC236}">
                <a16:creationId xmlns:a16="http://schemas.microsoft.com/office/drawing/2014/main" id="{5498E0D3-E4B8-B08C-9CBA-BF9655FF61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44356" y="2413828"/>
            <a:ext cx="2099474" cy="203991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A5C1FD9-5745-D9B1-8D8B-D8CACA972598}"/>
              </a:ext>
            </a:extLst>
          </p:cNvPr>
          <p:cNvSpPr txBox="1"/>
          <p:nvPr/>
        </p:nvSpPr>
        <p:spPr>
          <a:xfrm>
            <a:off x="3181495" y="2567267"/>
            <a:ext cx="3557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 err="1">
                <a:solidFill>
                  <a:srgbClr val="C00000"/>
                </a:solidFill>
                <a:effectLst/>
                <a:latin typeface="Arial Black" panose="020B0A04020102020204" pitchFamily="34" charset="0"/>
              </a:rPr>
              <a:t>AeroLinkers</a:t>
            </a:r>
            <a:endParaRPr lang="en-IN" sz="4000" dirty="0"/>
          </a:p>
        </p:txBody>
      </p:sp>
      <p:pic>
        <p:nvPicPr>
          <p:cNvPr id="41" name="pic">
            <a:extLst>
              <a:ext uri="{FF2B5EF4-FFF2-40B4-BE49-F238E27FC236}">
                <a16:creationId xmlns:a16="http://schemas.microsoft.com/office/drawing/2014/main" id="{AAB1A5F8-C606-C714-B114-7C2A021FDF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3649" y="813478"/>
            <a:ext cx="4590000" cy="11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6717-E346-A712-17AA-C64FDB0D7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B5F35CDE-A020-AF8D-7AFC-BA54271C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Selection</a:t>
            </a:r>
            <a:endParaRPr lang="en-IN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2C6F7BF-68FF-34A3-0975-3C888A148034}"/>
              </a:ext>
            </a:extLst>
          </p:cNvPr>
          <p:cNvGrpSpPr/>
          <p:nvPr/>
        </p:nvGrpSpPr>
        <p:grpSpPr>
          <a:xfrm>
            <a:off x="2023534" y="1397000"/>
            <a:ext cx="7567359" cy="5147734"/>
            <a:chOff x="2023534" y="1397000"/>
            <a:chExt cx="7567359" cy="51477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A0381AB-8A1B-5521-0B58-FAAB52C7F1D7}"/>
                </a:ext>
              </a:extLst>
            </p:cNvPr>
            <p:cNvSpPr/>
            <p:nvPr/>
          </p:nvSpPr>
          <p:spPr>
            <a:xfrm>
              <a:off x="2023534" y="1397000"/>
              <a:ext cx="7567359" cy="5147734"/>
            </a:xfrm>
            <a:prstGeom prst="rect">
              <a:avLst/>
            </a:prstGeom>
            <a:ln w="28575"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B7936E9-7A9D-024C-DEA7-F47A605A9334}"/>
                </a:ext>
              </a:extLst>
            </p:cNvPr>
            <p:cNvSpPr/>
            <p:nvPr/>
          </p:nvSpPr>
          <p:spPr>
            <a:xfrm>
              <a:off x="4759559" y="3215520"/>
              <a:ext cx="2200405" cy="1371627"/>
            </a:xfrm>
            <a:custGeom>
              <a:avLst/>
              <a:gdLst>
                <a:gd name="csX0" fmla="*/ 0 w 2200405"/>
                <a:gd name="csY0" fmla="*/ 685814 h 1371627"/>
                <a:gd name="csX1" fmla="*/ 1100203 w 2200405"/>
                <a:gd name="csY1" fmla="*/ 0 h 1371627"/>
                <a:gd name="csX2" fmla="*/ 2200406 w 2200405"/>
                <a:gd name="csY2" fmla="*/ 685814 h 1371627"/>
                <a:gd name="csX3" fmla="*/ 1100203 w 2200405"/>
                <a:gd name="csY3" fmla="*/ 1371628 h 1371627"/>
                <a:gd name="csX4" fmla="*/ 0 w 2200405"/>
                <a:gd name="csY4" fmla="*/ 685814 h 1371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00405" h="1371627">
                  <a:moveTo>
                    <a:pt x="0" y="685814"/>
                  </a:moveTo>
                  <a:cubicBezTo>
                    <a:pt x="0" y="307049"/>
                    <a:pt x="492578" y="0"/>
                    <a:pt x="1100203" y="0"/>
                  </a:cubicBezTo>
                  <a:cubicBezTo>
                    <a:pt x="1707828" y="0"/>
                    <a:pt x="2200406" y="307049"/>
                    <a:pt x="2200406" y="685814"/>
                  </a:cubicBezTo>
                  <a:cubicBezTo>
                    <a:pt x="2200406" y="1064579"/>
                    <a:pt x="1707828" y="1371628"/>
                    <a:pt x="1100203" y="1371628"/>
                  </a:cubicBezTo>
                  <a:cubicBezTo>
                    <a:pt x="492578" y="1371628"/>
                    <a:pt x="0" y="1064579"/>
                    <a:pt x="0" y="68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4942" tIns="213570" rIns="334942" bIns="2135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11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>
                  <a:latin typeface="Trebuchet MS" panose="020B0603020202020204" pitchFamily="34" charset="0"/>
                </a:rPr>
                <a:t>Hardware  Component Selection</a:t>
              </a: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CCD8368-5B98-5485-A9AF-9E9123B6948A}"/>
                </a:ext>
              </a:extLst>
            </p:cNvPr>
            <p:cNvSpPr/>
            <p:nvPr/>
          </p:nvSpPr>
          <p:spPr>
            <a:xfrm rot="26909780">
              <a:off x="5383528" y="2755449"/>
              <a:ext cx="893033" cy="27600"/>
            </a:xfrm>
            <a:custGeom>
              <a:avLst/>
              <a:gdLst>
                <a:gd name="csX0" fmla="*/ 0 w 893033"/>
                <a:gd name="csY0" fmla="*/ 13800 h 27600"/>
                <a:gd name="csX1" fmla="*/ 893033 w 893033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93033" h="27600">
                  <a:moveTo>
                    <a:pt x="893033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36889" tIns="-8526" rIns="436892" bIns="-852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00B6E9F-93CA-6914-8A0B-B17A8DCF8BA7}"/>
                </a:ext>
              </a:extLst>
            </p:cNvPr>
            <p:cNvSpPr/>
            <p:nvPr/>
          </p:nvSpPr>
          <p:spPr>
            <a:xfrm>
              <a:off x="4720151" y="1530862"/>
              <a:ext cx="2175562" cy="792041"/>
            </a:xfrm>
            <a:custGeom>
              <a:avLst/>
              <a:gdLst>
                <a:gd name="csX0" fmla="*/ 0 w 2175562"/>
                <a:gd name="csY0" fmla="*/ 396021 h 792041"/>
                <a:gd name="csX1" fmla="*/ 1087781 w 2175562"/>
                <a:gd name="csY1" fmla="*/ 0 h 792041"/>
                <a:gd name="csX2" fmla="*/ 2175562 w 2175562"/>
                <a:gd name="csY2" fmla="*/ 396021 h 792041"/>
                <a:gd name="csX3" fmla="*/ 1087781 w 2175562"/>
                <a:gd name="csY3" fmla="*/ 792042 h 792041"/>
                <a:gd name="csX4" fmla="*/ 0 w 2175562"/>
                <a:gd name="csY4" fmla="*/ 396021 h 792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75562" h="792041">
                  <a:moveTo>
                    <a:pt x="0" y="396021"/>
                  </a:moveTo>
                  <a:cubicBezTo>
                    <a:pt x="0" y="177305"/>
                    <a:pt x="487016" y="0"/>
                    <a:pt x="1087781" y="0"/>
                  </a:cubicBezTo>
                  <a:cubicBezTo>
                    <a:pt x="1688546" y="0"/>
                    <a:pt x="2175562" y="177305"/>
                    <a:pt x="2175562" y="396021"/>
                  </a:cubicBezTo>
                  <a:cubicBezTo>
                    <a:pt x="2175562" y="614737"/>
                    <a:pt x="1688546" y="792042"/>
                    <a:pt x="1087781" y="792042"/>
                  </a:cubicBezTo>
                  <a:cubicBezTo>
                    <a:pt x="487016" y="792042"/>
                    <a:pt x="0" y="614737"/>
                    <a:pt x="0" y="396021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764" tIns="126152" rIns="328764" bIns="126152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MCU (STM32U375RG)</a:t>
              </a: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7B9EEC0-F459-99B1-7B2F-CE21BE2F09EF}"/>
                </a:ext>
              </a:extLst>
            </p:cNvPr>
            <p:cNvSpPr/>
            <p:nvPr/>
          </p:nvSpPr>
          <p:spPr>
            <a:xfrm rot="19663493">
              <a:off x="6572742" y="3192507"/>
              <a:ext cx="775002" cy="27600"/>
            </a:xfrm>
            <a:custGeom>
              <a:avLst/>
              <a:gdLst>
                <a:gd name="csX0" fmla="*/ 0 w 775002"/>
                <a:gd name="csY0" fmla="*/ 13800 h 27600"/>
                <a:gd name="csX1" fmla="*/ 775002 w 775002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75002" h="27600">
                  <a:moveTo>
                    <a:pt x="0" y="13800"/>
                  </a:moveTo>
                  <a:lnTo>
                    <a:pt x="775002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0826" tIns="-5575" rIns="380826" bIns="-557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85A1A68-87C2-746B-0F89-956053BEE0FF}"/>
                </a:ext>
              </a:extLst>
            </p:cNvPr>
            <p:cNvSpPr/>
            <p:nvPr/>
          </p:nvSpPr>
          <p:spPr>
            <a:xfrm>
              <a:off x="6888244" y="2233438"/>
              <a:ext cx="1889680" cy="843224"/>
            </a:xfrm>
            <a:custGeom>
              <a:avLst/>
              <a:gdLst>
                <a:gd name="csX0" fmla="*/ 0 w 1889680"/>
                <a:gd name="csY0" fmla="*/ 421612 h 843224"/>
                <a:gd name="csX1" fmla="*/ 944840 w 1889680"/>
                <a:gd name="csY1" fmla="*/ 0 h 843224"/>
                <a:gd name="csX2" fmla="*/ 1889680 w 1889680"/>
                <a:gd name="csY2" fmla="*/ 421612 h 843224"/>
                <a:gd name="csX3" fmla="*/ 944840 w 1889680"/>
                <a:gd name="csY3" fmla="*/ 843224 h 843224"/>
                <a:gd name="csX4" fmla="*/ 0 w 1889680"/>
                <a:gd name="csY4" fmla="*/ 421612 h 843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89680" h="843224">
                  <a:moveTo>
                    <a:pt x="0" y="421612"/>
                  </a:moveTo>
                  <a:cubicBezTo>
                    <a:pt x="0" y="188762"/>
                    <a:pt x="423019" y="0"/>
                    <a:pt x="944840" y="0"/>
                  </a:cubicBezTo>
                  <a:cubicBezTo>
                    <a:pt x="1466661" y="0"/>
                    <a:pt x="1889680" y="188762"/>
                    <a:pt x="1889680" y="421612"/>
                  </a:cubicBezTo>
                  <a:cubicBezTo>
                    <a:pt x="1889680" y="654462"/>
                    <a:pt x="1466661" y="843224"/>
                    <a:pt x="944840" y="843224"/>
                  </a:cubicBezTo>
                  <a:cubicBezTo>
                    <a:pt x="423019" y="843224"/>
                    <a:pt x="0" y="654462"/>
                    <a:pt x="0" y="421612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6897" tIns="133647" rIns="286897" bIns="133647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Wi-Fi Module (nRF7002)</a:t>
              </a: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E422519-8ED6-9FDC-5310-013CC391A602}"/>
                </a:ext>
              </a:extLst>
            </p:cNvPr>
            <p:cNvSpPr/>
            <p:nvPr/>
          </p:nvSpPr>
          <p:spPr>
            <a:xfrm rot="21598110">
              <a:off x="6959964" y="3886761"/>
              <a:ext cx="611253" cy="27600"/>
            </a:xfrm>
            <a:custGeom>
              <a:avLst/>
              <a:gdLst>
                <a:gd name="csX0" fmla="*/ 0 w 611253"/>
                <a:gd name="csY0" fmla="*/ 13800 h 27600"/>
                <a:gd name="csX1" fmla="*/ 611253 w 611253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11253" h="27600">
                  <a:moveTo>
                    <a:pt x="0" y="13800"/>
                  </a:moveTo>
                  <a:lnTo>
                    <a:pt x="611253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3045" tIns="-1482" rIns="303045" bIns="-1481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989C167-6D76-E50C-0535-7A1CE382318D}"/>
                </a:ext>
              </a:extLst>
            </p:cNvPr>
            <p:cNvSpPr/>
            <p:nvPr/>
          </p:nvSpPr>
          <p:spPr>
            <a:xfrm>
              <a:off x="7571217" y="3477931"/>
              <a:ext cx="1824411" cy="843920"/>
            </a:xfrm>
            <a:custGeom>
              <a:avLst/>
              <a:gdLst>
                <a:gd name="csX0" fmla="*/ 0 w 1824411"/>
                <a:gd name="csY0" fmla="*/ 421960 h 843920"/>
                <a:gd name="csX1" fmla="*/ 912206 w 1824411"/>
                <a:gd name="csY1" fmla="*/ 0 h 843920"/>
                <a:gd name="csX2" fmla="*/ 1824412 w 1824411"/>
                <a:gd name="csY2" fmla="*/ 421960 h 843920"/>
                <a:gd name="csX3" fmla="*/ 912206 w 1824411"/>
                <a:gd name="csY3" fmla="*/ 843920 h 843920"/>
                <a:gd name="csX4" fmla="*/ 0 w 1824411"/>
                <a:gd name="csY4" fmla="*/ 421960 h 843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4411" h="843920">
                  <a:moveTo>
                    <a:pt x="0" y="421960"/>
                  </a:moveTo>
                  <a:cubicBezTo>
                    <a:pt x="0" y="188918"/>
                    <a:pt x="408409" y="0"/>
                    <a:pt x="912206" y="0"/>
                  </a:cubicBezTo>
                  <a:cubicBezTo>
                    <a:pt x="1416003" y="0"/>
                    <a:pt x="1824412" y="188918"/>
                    <a:pt x="1824412" y="421960"/>
                  </a:cubicBezTo>
                  <a:cubicBezTo>
                    <a:pt x="1824412" y="655002"/>
                    <a:pt x="1416003" y="843920"/>
                    <a:pt x="912206" y="843920"/>
                  </a:cubicBezTo>
                  <a:cubicBezTo>
                    <a:pt x="408409" y="843920"/>
                    <a:pt x="0" y="655002"/>
                    <a:pt x="0" y="421960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7339" tIns="133749" rIns="277339" bIns="13374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Audio Codec (SGTL5000)</a:t>
              </a: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B6C3B8F-E53D-521A-048F-CA7032E58567}"/>
                </a:ext>
              </a:extLst>
            </p:cNvPr>
            <p:cNvSpPr/>
            <p:nvPr/>
          </p:nvSpPr>
          <p:spPr>
            <a:xfrm rot="1564961">
              <a:off x="6667220" y="4560749"/>
              <a:ext cx="1135596" cy="27600"/>
            </a:xfrm>
            <a:custGeom>
              <a:avLst/>
              <a:gdLst>
                <a:gd name="csX0" fmla="*/ 0 w 1135596"/>
                <a:gd name="csY0" fmla="*/ 13800 h 27600"/>
                <a:gd name="csX1" fmla="*/ 1135596 w 1135596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5596" h="27600">
                  <a:moveTo>
                    <a:pt x="0" y="13800"/>
                  </a:moveTo>
                  <a:lnTo>
                    <a:pt x="1135596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52107" tIns="-14590" rIns="552109" bIns="-14590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BA3A274-7076-093D-C51A-8C27C1A428D0}"/>
                </a:ext>
              </a:extLst>
            </p:cNvPr>
            <p:cNvSpPr/>
            <p:nvPr/>
          </p:nvSpPr>
          <p:spPr>
            <a:xfrm>
              <a:off x="7403479" y="4741752"/>
              <a:ext cx="1849764" cy="736021"/>
            </a:xfrm>
            <a:custGeom>
              <a:avLst/>
              <a:gdLst>
                <a:gd name="csX0" fmla="*/ 0 w 1849764"/>
                <a:gd name="csY0" fmla="*/ 368011 h 736021"/>
                <a:gd name="csX1" fmla="*/ 924882 w 1849764"/>
                <a:gd name="csY1" fmla="*/ 0 h 736021"/>
                <a:gd name="csX2" fmla="*/ 1849764 w 1849764"/>
                <a:gd name="csY2" fmla="*/ 368011 h 736021"/>
                <a:gd name="csX3" fmla="*/ 924882 w 1849764"/>
                <a:gd name="csY3" fmla="*/ 736022 h 736021"/>
                <a:gd name="csX4" fmla="*/ 0 w 1849764"/>
                <a:gd name="csY4" fmla="*/ 368011 h 7360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49764" h="736021">
                  <a:moveTo>
                    <a:pt x="0" y="368011"/>
                  </a:moveTo>
                  <a:cubicBezTo>
                    <a:pt x="0" y="164764"/>
                    <a:pt x="414084" y="0"/>
                    <a:pt x="924882" y="0"/>
                  </a:cubicBezTo>
                  <a:cubicBezTo>
                    <a:pt x="1435680" y="0"/>
                    <a:pt x="1849764" y="164764"/>
                    <a:pt x="1849764" y="368011"/>
                  </a:cubicBezTo>
                  <a:cubicBezTo>
                    <a:pt x="1849764" y="571258"/>
                    <a:pt x="1435680" y="736022"/>
                    <a:pt x="924882" y="736022"/>
                  </a:cubicBezTo>
                  <a:cubicBezTo>
                    <a:pt x="414084" y="736022"/>
                    <a:pt x="0" y="571258"/>
                    <a:pt x="0" y="368011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1052" tIns="117948" rIns="281052" bIns="11794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Haptic Driver (DRV2603)</a:t>
              </a: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DA1A097-0F2D-9CA4-0BD2-BBABCFE7C645}"/>
                </a:ext>
              </a:extLst>
            </p:cNvPr>
            <p:cNvSpPr/>
            <p:nvPr/>
          </p:nvSpPr>
          <p:spPr>
            <a:xfrm rot="5351238">
              <a:off x="5630007" y="4816224"/>
              <a:ext cx="485855" cy="27600"/>
            </a:xfrm>
            <a:custGeom>
              <a:avLst/>
              <a:gdLst>
                <a:gd name="csX0" fmla="*/ 0 w 485855"/>
                <a:gd name="csY0" fmla="*/ 13800 h 27600"/>
                <a:gd name="csX1" fmla="*/ 485855 w 485855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5855" h="27600">
                  <a:moveTo>
                    <a:pt x="0" y="13800"/>
                  </a:moveTo>
                  <a:lnTo>
                    <a:pt x="485855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480" tIns="1652" rIns="243482" bIns="165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3C27E03-CF54-733D-F73B-ADC8CDDEE889}"/>
                </a:ext>
              </a:extLst>
            </p:cNvPr>
            <p:cNvSpPr/>
            <p:nvPr/>
          </p:nvSpPr>
          <p:spPr>
            <a:xfrm>
              <a:off x="4681340" y="5072916"/>
              <a:ext cx="2405261" cy="1070173"/>
            </a:xfrm>
            <a:custGeom>
              <a:avLst/>
              <a:gdLst>
                <a:gd name="csX0" fmla="*/ 0 w 2405261"/>
                <a:gd name="csY0" fmla="*/ 535087 h 1070173"/>
                <a:gd name="csX1" fmla="*/ 1202631 w 2405261"/>
                <a:gd name="csY1" fmla="*/ 0 h 1070173"/>
                <a:gd name="csX2" fmla="*/ 2405262 w 2405261"/>
                <a:gd name="csY2" fmla="*/ 535087 h 1070173"/>
                <a:gd name="csX3" fmla="*/ 1202631 w 2405261"/>
                <a:gd name="csY3" fmla="*/ 1070174 h 1070173"/>
                <a:gd name="csX4" fmla="*/ 0 w 2405261"/>
                <a:gd name="csY4" fmla="*/ 535087 h 10701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261" h="1070173">
                  <a:moveTo>
                    <a:pt x="0" y="535087"/>
                  </a:moveTo>
                  <a:cubicBezTo>
                    <a:pt x="0" y="239567"/>
                    <a:pt x="538436" y="0"/>
                    <a:pt x="1202631" y="0"/>
                  </a:cubicBezTo>
                  <a:cubicBezTo>
                    <a:pt x="1866826" y="0"/>
                    <a:pt x="2405262" y="239567"/>
                    <a:pt x="2405262" y="535087"/>
                  </a:cubicBezTo>
                  <a:cubicBezTo>
                    <a:pt x="2405262" y="830607"/>
                    <a:pt x="1866826" y="1070174"/>
                    <a:pt x="1202631" y="1070174"/>
                  </a:cubicBezTo>
                  <a:cubicBezTo>
                    <a:pt x="538436" y="1070174"/>
                    <a:pt x="0" y="830607"/>
                    <a:pt x="0" y="535087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2402" tIns="166883" rIns="362402" bIns="16688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Display (1.69" IPS TFT) Capacitive Touch</a:t>
              </a: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300033A-9CFB-68CB-6188-B3BF4AF29EBA}"/>
                </a:ext>
              </a:extLst>
            </p:cNvPr>
            <p:cNvSpPr/>
            <p:nvPr/>
          </p:nvSpPr>
          <p:spPr>
            <a:xfrm rot="19823089">
              <a:off x="3915261" y="4648766"/>
              <a:ext cx="1210627" cy="27601"/>
            </a:xfrm>
            <a:custGeom>
              <a:avLst/>
              <a:gdLst>
                <a:gd name="csX0" fmla="*/ 0 w 1210626"/>
                <a:gd name="csY0" fmla="*/ 13800 h 27600"/>
                <a:gd name="csX1" fmla="*/ 1210626 w 1210626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10626" h="27600">
                  <a:moveTo>
                    <a:pt x="1210626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87746" tIns="-16465" rIns="587749" bIns="-1646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A206578-CC02-25D6-426E-CFC8DD9D6F45}"/>
                </a:ext>
              </a:extLst>
            </p:cNvPr>
            <p:cNvSpPr/>
            <p:nvPr/>
          </p:nvSpPr>
          <p:spPr>
            <a:xfrm>
              <a:off x="2663916" y="4877205"/>
              <a:ext cx="1631564" cy="754052"/>
            </a:xfrm>
            <a:custGeom>
              <a:avLst/>
              <a:gdLst>
                <a:gd name="csX0" fmla="*/ 0 w 1631564"/>
                <a:gd name="csY0" fmla="*/ 377026 h 754052"/>
                <a:gd name="csX1" fmla="*/ 815782 w 1631564"/>
                <a:gd name="csY1" fmla="*/ 0 h 754052"/>
                <a:gd name="csX2" fmla="*/ 1631564 w 1631564"/>
                <a:gd name="csY2" fmla="*/ 377026 h 754052"/>
                <a:gd name="csX3" fmla="*/ 815782 w 1631564"/>
                <a:gd name="csY3" fmla="*/ 754052 h 754052"/>
                <a:gd name="csX4" fmla="*/ 0 w 1631564"/>
                <a:gd name="csY4" fmla="*/ 377026 h 754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31564" h="754052">
                  <a:moveTo>
                    <a:pt x="0" y="377026"/>
                  </a:moveTo>
                  <a:cubicBezTo>
                    <a:pt x="0" y="168800"/>
                    <a:pt x="365238" y="0"/>
                    <a:pt x="815782" y="0"/>
                  </a:cubicBezTo>
                  <a:cubicBezTo>
                    <a:pt x="1266326" y="0"/>
                    <a:pt x="1631564" y="168800"/>
                    <a:pt x="1631564" y="377026"/>
                  </a:cubicBezTo>
                  <a:cubicBezTo>
                    <a:pt x="1631564" y="585252"/>
                    <a:pt x="1266326" y="754052"/>
                    <a:pt x="815782" y="754052"/>
                  </a:cubicBezTo>
                  <a:cubicBezTo>
                    <a:pt x="365238" y="754052"/>
                    <a:pt x="0" y="585252"/>
                    <a:pt x="0" y="377026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9097" tIns="120588" rIns="249097" bIns="120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IMU (LSM6DSOX)</a:t>
              </a: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B7F6E67-D105-E46C-90C7-3478C92BC0C3}"/>
                </a:ext>
              </a:extLst>
            </p:cNvPr>
            <p:cNvSpPr/>
            <p:nvPr/>
          </p:nvSpPr>
          <p:spPr>
            <a:xfrm rot="21602093">
              <a:off x="4514880" y="3886789"/>
              <a:ext cx="244680" cy="27601"/>
            </a:xfrm>
            <a:custGeom>
              <a:avLst/>
              <a:gdLst>
                <a:gd name="csX0" fmla="*/ 0 w 244679"/>
                <a:gd name="csY0" fmla="*/ 13800 h 27600"/>
                <a:gd name="csX1" fmla="*/ 244679 w 244679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4679" h="27600">
                  <a:moveTo>
                    <a:pt x="244679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923" tIns="7684" rIns="128923" bIns="7683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6A01B44-DBC9-5874-94BB-E314269E9C1D}"/>
                </a:ext>
              </a:extLst>
            </p:cNvPr>
            <p:cNvSpPr/>
            <p:nvPr/>
          </p:nvSpPr>
          <p:spPr>
            <a:xfrm>
              <a:off x="2480275" y="3464000"/>
              <a:ext cx="2034605" cy="871791"/>
            </a:xfrm>
            <a:custGeom>
              <a:avLst/>
              <a:gdLst>
                <a:gd name="csX0" fmla="*/ 0 w 2034605"/>
                <a:gd name="csY0" fmla="*/ 435896 h 871791"/>
                <a:gd name="csX1" fmla="*/ 1017303 w 2034605"/>
                <a:gd name="csY1" fmla="*/ 0 h 871791"/>
                <a:gd name="csX2" fmla="*/ 2034606 w 2034605"/>
                <a:gd name="csY2" fmla="*/ 435896 h 871791"/>
                <a:gd name="csX3" fmla="*/ 1017303 w 2034605"/>
                <a:gd name="csY3" fmla="*/ 871792 h 871791"/>
                <a:gd name="csX4" fmla="*/ 0 w 2034605"/>
                <a:gd name="csY4" fmla="*/ 435896 h 871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34605" h="871791">
                  <a:moveTo>
                    <a:pt x="0" y="435896"/>
                  </a:moveTo>
                  <a:cubicBezTo>
                    <a:pt x="0" y="195157"/>
                    <a:pt x="455462" y="0"/>
                    <a:pt x="1017303" y="0"/>
                  </a:cubicBezTo>
                  <a:cubicBezTo>
                    <a:pt x="1579144" y="0"/>
                    <a:pt x="2034606" y="195157"/>
                    <a:pt x="2034606" y="435896"/>
                  </a:cubicBezTo>
                  <a:cubicBezTo>
                    <a:pt x="2034606" y="676635"/>
                    <a:pt x="1579144" y="871792"/>
                    <a:pt x="1017303" y="871792"/>
                  </a:cubicBezTo>
                  <a:cubicBezTo>
                    <a:pt x="455462" y="871792"/>
                    <a:pt x="0" y="676635"/>
                    <a:pt x="0" y="435896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8121" tIns="137831" rIns="308121" bIns="13783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Battery 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(Li-Po 300mAh)</a:t>
              </a: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350DF17-D520-FDA2-67D4-95F51481FB92}"/>
                </a:ext>
              </a:extLst>
            </p:cNvPr>
            <p:cNvSpPr/>
            <p:nvPr/>
          </p:nvSpPr>
          <p:spPr>
            <a:xfrm rot="23697293">
              <a:off x="4372337" y="3137890"/>
              <a:ext cx="830055" cy="27601"/>
            </a:xfrm>
            <a:custGeom>
              <a:avLst/>
              <a:gdLst>
                <a:gd name="csX0" fmla="*/ 0 w 830055"/>
                <a:gd name="csY0" fmla="*/ 13800 h 27600"/>
                <a:gd name="csX1" fmla="*/ 830055 w 830055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0055" h="27600">
                  <a:moveTo>
                    <a:pt x="830055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977" tIns="-6951" rIns="406975" bIns="-6951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7C8FA97-DF62-3364-2E7B-CBC2C346EBF6}"/>
                </a:ext>
              </a:extLst>
            </p:cNvPr>
            <p:cNvSpPr/>
            <p:nvPr/>
          </p:nvSpPr>
          <p:spPr>
            <a:xfrm>
              <a:off x="3309304" y="2217584"/>
              <a:ext cx="1401702" cy="781622"/>
            </a:xfrm>
            <a:custGeom>
              <a:avLst/>
              <a:gdLst>
                <a:gd name="csX0" fmla="*/ 0 w 1401702"/>
                <a:gd name="csY0" fmla="*/ 390811 h 781622"/>
                <a:gd name="csX1" fmla="*/ 700851 w 1401702"/>
                <a:gd name="csY1" fmla="*/ 0 h 781622"/>
                <a:gd name="csX2" fmla="*/ 1401702 w 1401702"/>
                <a:gd name="csY2" fmla="*/ 390811 h 781622"/>
                <a:gd name="csX3" fmla="*/ 700851 w 1401702"/>
                <a:gd name="csY3" fmla="*/ 781622 h 781622"/>
                <a:gd name="csX4" fmla="*/ 0 w 1401702"/>
                <a:gd name="csY4" fmla="*/ 390811 h 781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01702" h="781622">
                  <a:moveTo>
                    <a:pt x="0" y="390811"/>
                  </a:moveTo>
                  <a:cubicBezTo>
                    <a:pt x="0" y="174972"/>
                    <a:pt x="313782" y="0"/>
                    <a:pt x="700851" y="0"/>
                  </a:cubicBezTo>
                  <a:cubicBezTo>
                    <a:pt x="1087920" y="0"/>
                    <a:pt x="1401702" y="174972"/>
                    <a:pt x="1401702" y="390811"/>
                  </a:cubicBezTo>
                  <a:cubicBezTo>
                    <a:pt x="1401702" y="606650"/>
                    <a:pt x="1087920" y="781622"/>
                    <a:pt x="700851" y="781622"/>
                  </a:cubicBezTo>
                  <a:cubicBezTo>
                    <a:pt x="313782" y="781622"/>
                    <a:pt x="0" y="606650"/>
                    <a:pt x="0" y="390811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5435" tIns="124626" rIns="215435" bIns="12462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PMIC (nPM1300)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62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DC36-5C36-F206-057B-32A98D72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76350-001F-8878-3FFA-4906D37D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D1CAC-FB27-900C-1B0E-ACEFC5013B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" t="7845"/>
          <a:stretch>
            <a:fillRect/>
          </a:stretch>
        </p:blipFill>
        <p:spPr>
          <a:xfrm>
            <a:off x="0" y="0"/>
            <a:ext cx="12192000" cy="689917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0DC3B70-8FA7-706F-E00A-33E46737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628" y="6092005"/>
            <a:ext cx="2693905" cy="765995"/>
          </a:xfrm>
        </p:spPr>
        <p:txBody>
          <a:bodyPr>
            <a:normAutofit/>
          </a:bodyPr>
          <a:lstStyle/>
          <a:p>
            <a:r>
              <a:rPr lang="en-US" dirty="0"/>
              <a:t>GPIO 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1C772-E226-73D4-F229-6B46548A27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73" t="15223"/>
          <a:stretch>
            <a:fillRect/>
          </a:stretch>
        </p:blipFill>
        <p:spPr>
          <a:xfrm>
            <a:off x="11688842" y="6349999"/>
            <a:ext cx="503158" cy="54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3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630E-AAEC-D306-CFCC-D1517964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F02D7D8-0365-45A9-B1FB-730B5948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57" y="341160"/>
            <a:ext cx="9414013" cy="765995"/>
          </a:xfrm>
        </p:spPr>
        <p:txBody>
          <a:bodyPr>
            <a:normAutofit/>
          </a:bodyPr>
          <a:lstStyle/>
          <a:p>
            <a:r>
              <a:rPr lang="en-US" sz="2800" dirty="0"/>
              <a:t>Power </a:t>
            </a:r>
            <a:r>
              <a:rPr lang="en-US" dirty="0"/>
              <a:t>Architecture</a:t>
            </a:r>
            <a:r>
              <a:rPr lang="en-US" sz="2800" dirty="0"/>
              <a:t> &amp; Boot 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50DC9-8B5B-D7DA-265E-9F0E8870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z="1200" smtClean="0">
                <a:latin typeface="Trebuchet MS" panose="020B0603020202020204" pitchFamily="34" charset="0"/>
              </a:rPr>
              <a:pPr>
                <a:spcAft>
                  <a:spcPts val="600"/>
                </a:spcAft>
              </a:pPr>
              <a:t>4</a:t>
            </a:fld>
            <a:endParaRPr lang="en-IN" sz="1200"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A7D4E-B83D-E253-AAB4-FEC190D642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" y="1207582"/>
            <a:ext cx="5686861" cy="5287465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C9AFA01C-8C1B-6CD3-ADF2-432EA217FCD2}"/>
              </a:ext>
            </a:extLst>
          </p:cNvPr>
          <p:cNvSpPr/>
          <p:nvPr/>
        </p:nvSpPr>
        <p:spPr>
          <a:xfrm>
            <a:off x="7838840" y="1262581"/>
            <a:ext cx="2106593" cy="66802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Start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DF3A52-110A-A9CB-65C6-B916D6B7071E}"/>
              </a:ext>
            </a:extLst>
          </p:cNvPr>
          <p:cNvSpPr/>
          <p:nvPr/>
        </p:nvSpPr>
        <p:spPr>
          <a:xfrm>
            <a:off x="7838840" y="2258004"/>
            <a:ext cx="2106593" cy="765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PMIC</a:t>
            </a:r>
          </a:p>
          <a:p>
            <a:pPr algn="ctr"/>
            <a:r>
              <a:rPr lang="en-IN" sz="1600" dirty="0">
                <a:latin typeface="Trebuchet MS" panose="020B0603020202020204" pitchFamily="34" charset="0"/>
              </a:rPr>
              <a:t>VBAT &amp; VIN -&gt; VSYS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78B784-551D-7C57-1BA3-8E38FF036522}"/>
              </a:ext>
            </a:extLst>
          </p:cNvPr>
          <p:cNvSpPr/>
          <p:nvPr/>
        </p:nvSpPr>
        <p:spPr>
          <a:xfrm>
            <a:off x="7838840" y="3351393"/>
            <a:ext cx="2106593" cy="3881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LDO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B8D020-E33E-E0B4-BFE8-76D1DCB79142}"/>
              </a:ext>
            </a:extLst>
          </p:cNvPr>
          <p:cNvSpPr/>
          <p:nvPr/>
        </p:nvSpPr>
        <p:spPr>
          <a:xfrm>
            <a:off x="7838840" y="3985936"/>
            <a:ext cx="2106593" cy="3881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MCU and Display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D30453-87EB-6703-5337-C29AD25DBCFA}"/>
              </a:ext>
            </a:extLst>
          </p:cNvPr>
          <p:cNvSpPr/>
          <p:nvPr/>
        </p:nvSpPr>
        <p:spPr>
          <a:xfrm>
            <a:off x="7468450" y="4620479"/>
            <a:ext cx="2835798" cy="3881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MCU Enable Vout-1 in PMIC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54231A-9B80-73F7-165F-5262D7C03CDE}"/>
              </a:ext>
            </a:extLst>
          </p:cNvPr>
          <p:cNvSpPr/>
          <p:nvPr/>
        </p:nvSpPr>
        <p:spPr>
          <a:xfrm>
            <a:off x="10792314" y="4630609"/>
            <a:ext cx="1062941" cy="388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Audio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157AADB-5F0B-179C-CBD1-8CE1E199B7ED}"/>
              </a:ext>
            </a:extLst>
          </p:cNvPr>
          <p:cNvSpPr/>
          <p:nvPr/>
        </p:nvSpPr>
        <p:spPr>
          <a:xfrm>
            <a:off x="10792314" y="5269146"/>
            <a:ext cx="1062941" cy="3881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IMU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A117A9F-B072-75EE-ADC5-22FD2A5916FE}"/>
              </a:ext>
            </a:extLst>
          </p:cNvPr>
          <p:cNvSpPr/>
          <p:nvPr/>
        </p:nvSpPr>
        <p:spPr>
          <a:xfrm>
            <a:off x="10792314" y="5906238"/>
            <a:ext cx="1062941" cy="3881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Haptic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5EC4B6-7031-9AFE-D3D5-434E84E82D6A}"/>
              </a:ext>
            </a:extLst>
          </p:cNvPr>
          <p:cNvSpPr/>
          <p:nvPr/>
        </p:nvSpPr>
        <p:spPr>
          <a:xfrm>
            <a:off x="7468450" y="5325697"/>
            <a:ext cx="2835798" cy="3881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MCU Enable Vout-2 in PMIC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669B098-E2DE-A951-FC9D-D907FF1C7A28}"/>
              </a:ext>
            </a:extLst>
          </p:cNvPr>
          <p:cNvSpPr/>
          <p:nvPr/>
        </p:nvSpPr>
        <p:spPr>
          <a:xfrm>
            <a:off x="5949871" y="5325697"/>
            <a:ext cx="1062941" cy="388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Wi-Fi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567087E-DD9A-0EF3-3EF3-956D47D299D5}"/>
              </a:ext>
            </a:extLst>
          </p:cNvPr>
          <p:cNvCxnSpPr>
            <a:stCxn id="48" idx="4"/>
            <a:endCxn id="49" idx="0"/>
          </p:cNvCxnSpPr>
          <p:nvPr/>
        </p:nvCxnSpPr>
        <p:spPr>
          <a:xfrm>
            <a:off x="8892137" y="1930610"/>
            <a:ext cx="0" cy="327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AC5834-E7AD-4A32-125B-AEDDD2DAB107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8892137" y="3023999"/>
            <a:ext cx="0" cy="327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FBF9BA-DCF3-B454-E47A-618E6BD4F530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>
            <a:off x="8892137" y="3739564"/>
            <a:ext cx="0" cy="246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599D43C-7E43-A640-0D53-60F478B3FD4C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 flipH="1">
            <a:off x="8886349" y="4374107"/>
            <a:ext cx="5788" cy="246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19A705E-C7F0-3C83-FFA8-AFB1EEBDE99D}"/>
              </a:ext>
            </a:extLst>
          </p:cNvPr>
          <p:cNvCxnSpPr>
            <a:stCxn id="52" idx="2"/>
            <a:endCxn id="56" idx="0"/>
          </p:cNvCxnSpPr>
          <p:nvPr/>
        </p:nvCxnSpPr>
        <p:spPr>
          <a:xfrm>
            <a:off x="8886349" y="5008650"/>
            <a:ext cx="0" cy="317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151EA73-9E69-F9CA-822C-E0561BA5038F}"/>
              </a:ext>
            </a:extLst>
          </p:cNvPr>
          <p:cNvCxnSpPr>
            <a:stCxn id="52" idx="3"/>
            <a:endCxn id="53" idx="1"/>
          </p:cNvCxnSpPr>
          <p:nvPr/>
        </p:nvCxnSpPr>
        <p:spPr>
          <a:xfrm>
            <a:off x="10304248" y="4814565"/>
            <a:ext cx="488066" cy="10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CF52346-809A-7A4F-070F-974E0BB201DF}"/>
              </a:ext>
            </a:extLst>
          </p:cNvPr>
          <p:cNvCxnSpPr/>
          <p:nvPr/>
        </p:nvCxnSpPr>
        <p:spPr>
          <a:xfrm>
            <a:off x="10525067" y="4824694"/>
            <a:ext cx="0" cy="1275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B9221DE-586F-208E-E556-F3D86D33FBF5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0525067" y="5461786"/>
            <a:ext cx="267247" cy="1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E845B1D-279D-4F7B-2A4D-D6450803CE8F}"/>
              </a:ext>
            </a:extLst>
          </p:cNvPr>
          <p:cNvCxnSpPr>
            <a:endCxn id="55" idx="1"/>
          </p:cNvCxnSpPr>
          <p:nvPr/>
        </p:nvCxnSpPr>
        <p:spPr>
          <a:xfrm>
            <a:off x="10525067" y="6100323"/>
            <a:ext cx="2672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368DE93-A991-18E6-3163-1E44041EB8C5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7012813" y="5519783"/>
            <a:ext cx="45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19FE2F-FD4F-C5E5-A65B-BD550A069C67}"/>
              </a:ext>
            </a:extLst>
          </p:cNvPr>
          <p:cNvCxnSpPr/>
          <p:nvPr/>
        </p:nvCxnSpPr>
        <p:spPr>
          <a:xfrm>
            <a:off x="5807060" y="1135781"/>
            <a:ext cx="0" cy="556473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1771-BBE1-F23A-5730-7B2C3448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4B054AA-C47C-03E1-E585-D5214C68C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Power Consumption &amp; Dissipation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D54D0-C861-A1F3-51B0-586C9BAB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4B304E-EC5E-7115-AAB7-2B401818B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723194"/>
              </p:ext>
            </p:extLst>
          </p:nvPr>
        </p:nvGraphicFramePr>
        <p:xfrm>
          <a:off x="827773" y="1975332"/>
          <a:ext cx="10639123" cy="397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0576">
                  <a:extLst>
                    <a:ext uri="{9D8B030D-6E8A-4147-A177-3AD203B41FA5}">
                      <a16:colId xmlns:a16="http://schemas.microsoft.com/office/drawing/2014/main" val="3275516010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842726787"/>
                    </a:ext>
                  </a:extLst>
                </a:gridCol>
                <a:gridCol w="743458">
                  <a:extLst>
                    <a:ext uri="{9D8B030D-6E8A-4147-A177-3AD203B41FA5}">
                      <a16:colId xmlns:a16="http://schemas.microsoft.com/office/drawing/2014/main" val="3862420107"/>
                    </a:ext>
                  </a:extLst>
                </a:gridCol>
                <a:gridCol w="1048153">
                  <a:extLst>
                    <a:ext uri="{9D8B030D-6E8A-4147-A177-3AD203B41FA5}">
                      <a16:colId xmlns:a16="http://schemas.microsoft.com/office/drawing/2014/main" val="1555814811"/>
                    </a:ext>
                  </a:extLst>
                </a:gridCol>
                <a:gridCol w="1309720">
                  <a:extLst>
                    <a:ext uri="{9D8B030D-6E8A-4147-A177-3AD203B41FA5}">
                      <a16:colId xmlns:a16="http://schemas.microsoft.com/office/drawing/2014/main" val="1806456083"/>
                    </a:ext>
                  </a:extLst>
                </a:gridCol>
                <a:gridCol w="648575">
                  <a:extLst>
                    <a:ext uri="{9D8B030D-6E8A-4147-A177-3AD203B41FA5}">
                      <a16:colId xmlns:a16="http://schemas.microsoft.com/office/drawing/2014/main" val="1379182848"/>
                    </a:ext>
                  </a:extLst>
                </a:gridCol>
                <a:gridCol w="956373">
                  <a:extLst>
                    <a:ext uri="{9D8B030D-6E8A-4147-A177-3AD203B41FA5}">
                      <a16:colId xmlns:a16="http://schemas.microsoft.com/office/drawing/2014/main" val="2588120725"/>
                    </a:ext>
                  </a:extLst>
                </a:gridCol>
                <a:gridCol w="1176227">
                  <a:extLst>
                    <a:ext uri="{9D8B030D-6E8A-4147-A177-3AD203B41FA5}">
                      <a16:colId xmlns:a16="http://schemas.microsoft.com/office/drawing/2014/main" val="889531922"/>
                    </a:ext>
                  </a:extLst>
                </a:gridCol>
                <a:gridCol w="1041871">
                  <a:extLst>
                    <a:ext uri="{9D8B030D-6E8A-4147-A177-3AD203B41FA5}">
                      <a16:colId xmlns:a16="http://schemas.microsoft.com/office/drawing/2014/main" val="3414767490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​Operation (Approx. time)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PMIC &amp; LDO​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MCU​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Wi-Fi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DISPLAY &amp; Back Light (50% PWM)​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IMU​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AUDIO​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HAPTIC (50% PWM)​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TOTAL​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1569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8890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Boot​ing (5 Sec)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0.823 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rebuchet MS" panose="020B0603020202020204" pitchFamily="34" charset="0"/>
                        </a:rPr>
                        <a:t>180​</a:t>
                      </a:r>
                      <a:endParaRPr lang="en-IN" sz="1600" kern="10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rebuchet MS" panose="020B0603020202020204" pitchFamily="34" charset="0"/>
                        </a:rPr>
                        <a:t>50​</a:t>
                      </a:r>
                      <a:endParaRPr lang="en-IN" sz="1600" kern="10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0.55​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5​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269.37​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945065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Data Communication​ (1 Sec)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​99.37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428717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Rest ​Position​ 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​94.37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0553429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Wake ​Position​ 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50​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114.37​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810569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Docking​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64.37​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609231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Vibration​ (1 Sec)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60​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50​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0.55​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144.37​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68408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214116-77C8-A6FA-1616-DB790E033D45}"/>
              </a:ext>
            </a:extLst>
          </p:cNvPr>
          <p:cNvSpPr txBox="1"/>
          <p:nvPr/>
        </p:nvSpPr>
        <p:spPr>
          <a:xfrm>
            <a:off x="7121959" y="1461105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Trebuchet MS" panose="020B0603020202020204" pitchFamily="34" charset="0"/>
              </a:rPr>
              <a:t>All values are in Milliampere (mA)</a:t>
            </a:r>
          </a:p>
        </p:txBody>
      </p:sp>
    </p:spTree>
    <p:extLst>
      <p:ext uri="{BB962C8B-B14F-4D97-AF65-F5344CB8AC3E}">
        <p14:creationId xmlns:p14="http://schemas.microsoft.com/office/powerpoint/2010/main" val="267316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DF86-19A9-0717-6E21-99D796BA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18A882-7916-A3A7-4707-14A2F4C9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Reset Scheme and Interrupt Mapping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E36F7-2B62-9E4D-4746-10095214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2D2F4-C43A-75DD-5363-A64E765AF90C}"/>
              </a:ext>
            </a:extLst>
          </p:cNvPr>
          <p:cNvSpPr txBox="1"/>
          <p:nvPr/>
        </p:nvSpPr>
        <p:spPr>
          <a:xfrm>
            <a:off x="1233372" y="1625164"/>
            <a:ext cx="9133369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Applications can be reset by User Action Button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Peripherals can be reset by MCU through its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User Button -&gt; High Priority _ Level-1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Touch -&gt; Level-2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Wi-Fi -&gt; Level-3</a:t>
            </a:r>
          </a:p>
        </p:txBody>
      </p:sp>
    </p:spTree>
    <p:extLst>
      <p:ext uri="{BB962C8B-B14F-4D97-AF65-F5344CB8AC3E}">
        <p14:creationId xmlns:p14="http://schemas.microsoft.com/office/powerpoint/2010/main" val="102419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970E-060B-9199-3F29-804DA844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D8343F8-E504-2497-EFAA-51D97EBA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CPU Selection and Memory Requirement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9F0D9-405F-E213-11D5-C6522A47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93BC93-4991-A203-6332-E3B07FE16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15063"/>
              </p:ext>
            </p:extLst>
          </p:nvPr>
        </p:nvGraphicFramePr>
        <p:xfrm>
          <a:off x="1058781" y="1505824"/>
          <a:ext cx="9769642" cy="47161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62919">
                  <a:extLst>
                    <a:ext uri="{9D8B030D-6E8A-4147-A177-3AD203B41FA5}">
                      <a16:colId xmlns:a16="http://schemas.microsoft.com/office/drawing/2014/main" val="497576653"/>
                    </a:ext>
                  </a:extLst>
                </a:gridCol>
                <a:gridCol w="2397457">
                  <a:extLst>
                    <a:ext uri="{9D8B030D-6E8A-4147-A177-3AD203B41FA5}">
                      <a16:colId xmlns:a16="http://schemas.microsoft.com/office/drawing/2014/main" val="4265384643"/>
                    </a:ext>
                  </a:extLst>
                </a:gridCol>
                <a:gridCol w="2052823">
                  <a:extLst>
                    <a:ext uri="{9D8B030D-6E8A-4147-A177-3AD203B41FA5}">
                      <a16:colId xmlns:a16="http://schemas.microsoft.com/office/drawing/2014/main" val="675698083"/>
                    </a:ext>
                  </a:extLst>
                </a:gridCol>
                <a:gridCol w="1558349">
                  <a:extLst>
                    <a:ext uri="{9D8B030D-6E8A-4147-A177-3AD203B41FA5}">
                      <a16:colId xmlns:a16="http://schemas.microsoft.com/office/drawing/2014/main" val="2671952533"/>
                    </a:ext>
                  </a:extLst>
                </a:gridCol>
                <a:gridCol w="1798094">
                  <a:extLst>
                    <a:ext uri="{9D8B030D-6E8A-4147-A177-3AD203B41FA5}">
                      <a16:colId xmlns:a16="http://schemas.microsoft.com/office/drawing/2014/main" val="61309433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Parameter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STM32U375RG 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nRF5340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CC3551E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STM32U5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27573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MCU Type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ULP MCU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Radio-centric SoC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Wi-Fi MCU SoC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ULP MCU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341140668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Integrated Radio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None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BLE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Wi-Fi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None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116317891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Architecture Impact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Arm</a:t>
                      </a:r>
                      <a:r>
                        <a:rPr lang="en-US" sz="1600" b="0" i="0" kern="1200" baseline="300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®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 Cortex</a:t>
                      </a:r>
                      <a:r>
                        <a:rPr lang="en-US" sz="1600" b="0" i="0" kern="1200" baseline="300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®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-M33 32-bit RISC core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Wireless SoC with two Arm® Cortex®-M33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Arm® Cortex®-M33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Arm® Cortex®-M33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37138974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Active Current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16 µA/MHz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55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48 µA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16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7497306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Deep Sleep Current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~1.6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2.2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2.8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1.9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185936475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Lead Time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6–8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10–12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12–14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8–10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3614843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Memory (ROM / RAM)</a:t>
                      </a: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115248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658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FB25-E7D5-3660-5446-DDE6F263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77F97FB-02A8-24E5-30AC-2FA11A30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IDE, OS, CLI &amp; Device Driver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9045A-D605-D3A0-6FD6-27B6279B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9BE71-F007-24D3-CD85-41E83726270E}"/>
              </a:ext>
            </a:extLst>
          </p:cNvPr>
          <p:cNvSpPr txBox="1"/>
          <p:nvPr/>
        </p:nvSpPr>
        <p:spPr>
          <a:xfrm>
            <a:off x="763929" y="1678329"/>
            <a:ext cx="10162572" cy="3884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Zephyr RTOS preferred – Low Footprint and Power Consumption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Linux not preferred – No need of much application and user interface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Device Driver for all selected components are available in Zephyr support page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For Command Line Interface, SSH preferred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WolfSSH library available for establishing SSH in Zephyr</a:t>
            </a:r>
          </a:p>
        </p:txBody>
      </p:sp>
    </p:spTree>
    <p:extLst>
      <p:ext uri="{BB962C8B-B14F-4D97-AF65-F5344CB8AC3E}">
        <p14:creationId xmlns:p14="http://schemas.microsoft.com/office/powerpoint/2010/main" val="411908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DB26-7CFF-5F1B-9A37-37EB6E3C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F990F92-E3AF-2BFC-3F94-C88A0A3A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Device Menu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822F5-35D2-BB6B-4552-67AAD2A4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636DCA-5C3E-00D6-4997-402DDEC4F20E}"/>
              </a:ext>
            </a:extLst>
          </p:cNvPr>
          <p:cNvGrpSpPr/>
          <p:nvPr/>
        </p:nvGrpSpPr>
        <p:grpSpPr>
          <a:xfrm>
            <a:off x="1691265" y="1170672"/>
            <a:ext cx="9352764" cy="5291290"/>
            <a:chOff x="1692852" y="1165909"/>
            <a:chExt cx="9352764" cy="5291290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00B4030-F77F-4A91-9A0D-B8F4B27DB5D9}"/>
                </a:ext>
              </a:extLst>
            </p:cNvPr>
            <p:cNvSpPr/>
            <p:nvPr/>
          </p:nvSpPr>
          <p:spPr>
            <a:xfrm>
              <a:off x="9407909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DF27476-CA91-F093-8BD8-8DAC856D646F}"/>
                </a:ext>
              </a:extLst>
            </p:cNvPr>
            <p:cNvSpPr/>
            <p:nvPr/>
          </p:nvSpPr>
          <p:spPr>
            <a:xfrm>
              <a:off x="9407909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4693FF9-E2AC-8150-8E3E-8B09D3A31355}"/>
                </a:ext>
              </a:extLst>
            </p:cNvPr>
            <p:cNvSpPr/>
            <p:nvPr/>
          </p:nvSpPr>
          <p:spPr>
            <a:xfrm>
              <a:off x="6234515" y="1645259"/>
              <a:ext cx="3495380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51935"/>
                  </a:lnTo>
                  <a:lnTo>
                    <a:pt x="3495380" y="151935"/>
                  </a:lnTo>
                  <a:lnTo>
                    <a:pt x="3495380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9FC3EF2-486E-8387-39B4-998FA9F61970}"/>
                </a:ext>
              </a:extLst>
            </p:cNvPr>
            <p:cNvSpPr/>
            <p:nvPr/>
          </p:nvSpPr>
          <p:spPr>
            <a:xfrm>
              <a:off x="7437105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1318BBD-8BA6-A087-A4BE-395F9636BD15}"/>
                </a:ext>
              </a:extLst>
            </p:cNvPr>
            <p:cNvSpPr/>
            <p:nvPr/>
          </p:nvSpPr>
          <p:spPr>
            <a:xfrm>
              <a:off x="7437105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12851CD-61AD-E06B-0807-36A582E1E4AF}"/>
                </a:ext>
              </a:extLst>
            </p:cNvPr>
            <p:cNvSpPr/>
            <p:nvPr/>
          </p:nvSpPr>
          <p:spPr>
            <a:xfrm>
              <a:off x="6234515" y="1645259"/>
              <a:ext cx="1772227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51935"/>
                  </a:lnTo>
                  <a:lnTo>
                    <a:pt x="1772227" y="151935"/>
                  </a:lnTo>
                  <a:lnTo>
                    <a:pt x="1772227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FAF3602-685E-1BEC-6808-846B2C64D840}"/>
                </a:ext>
              </a:extLst>
            </p:cNvPr>
            <p:cNvSpPr/>
            <p:nvPr/>
          </p:nvSpPr>
          <p:spPr>
            <a:xfrm>
              <a:off x="5713952" y="2658771"/>
              <a:ext cx="213614" cy="267729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677296"/>
                  </a:lnTo>
                  <a:lnTo>
                    <a:pt x="213614" y="2677296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215DBC7-7C61-E6A7-63A9-40B9E0812B88}"/>
                </a:ext>
              </a:extLst>
            </p:cNvPr>
            <p:cNvSpPr/>
            <p:nvPr/>
          </p:nvSpPr>
          <p:spPr>
            <a:xfrm>
              <a:off x="5713952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FA6B235-EFE5-3403-3A13-5FE7CE3F9E94}"/>
                </a:ext>
              </a:extLst>
            </p:cNvPr>
            <p:cNvSpPr/>
            <p:nvPr/>
          </p:nvSpPr>
          <p:spPr>
            <a:xfrm>
              <a:off x="5713952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D4F966E-8DB8-BDE2-3D1E-4772A36EA6E7}"/>
                </a:ext>
              </a:extLst>
            </p:cNvPr>
            <p:cNvSpPr/>
            <p:nvPr/>
          </p:nvSpPr>
          <p:spPr>
            <a:xfrm>
              <a:off x="6188794" y="1644056"/>
              <a:ext cx="91440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51935"/>
                  </a:lnTo>
                  <a:lnTo>
                    <a:pt x="94794" y="151935"/>
                  </a:lnTo>
                  <a:lnTo>
                    <a:pt x="94794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D69DBAF-9309-6C62-0A77-B59C25D61DD2}"/>
                </a:ext>
              </a:extLst>
            </p:cNvPr>
            <p:cNvSpPr/>
            <p:nvPr/>
          </p:nvSpPr>
          <p:spPr>
            <a:xfrm>
              <a:off x="3990799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CFFD5B9-097E-11FB-BBA3-A1837FDFF73C}"/>
                </a:ext>
              </a:extLst>
            </p:cNvPr>
            <p:cNvSpPr/>
            <p:nvPr/>
          </p:nvSpPr>
          <p:spPr>
            <a:xfrm>
              <a:off x="3990799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E9FABF6-2B6B-9768-EE5B-54317DD8D955}"/>
                </a:ext>
              </a:extLst>
            </p:cNvPr>
            <p:cNvSpPr/>
            <p:nvPr/>
          </p:nvSpPr>
          <p:spPr>
            <a:xfrm>
              <a:off x="4560436" y="1645259"/>
              <a:ext cx="1674079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674079" y="0"/>
                  </a:moveTo>
                  <a:lnTo>
                    <a:pt x="1674079" y="151935"/>
                  </a:lnTo>
                  <a:lnTo>
                    <a:pt x="0" y="151935"/>
                  </a:lnTo>
                  <a:lnTo>
                    <a:pt x="0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80ABB06-6F53-2106-F638-A3D0C1E1EBDC}"/>
                </a:ext>
              </a:extLst>
            </p:cNvPr>
            <p:cNvSpPr/>
            <p:nvPr/>
          </p:nvSpPr>
          <p:spPr>
            <a:xfrm>
              <a:off x="1835262" y="2658771"/>
              <a:ext cx="323425" cy="329340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293405"/>
                  </a:lnTo>
                  <a:lnTo>
                    <a:pt x="323425" y="3293405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DAC891B-48ED-637A-2BC8-3F0B514C9A56}"/>
                </a:ext>
              </a:extLst>
            </p:cNvPr>
            <p:cNvSpPr/>
            <p:nvPr/>
          </p:nvSpPr>
          <p:spPr>
            <a:xfrm>
              <a:off x="1835262" y="2658771"/>
              <a:ext cx="323425" cy="223863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238639"/>
                  </a:lnTo>
                  <a:lnTo>
                    <a:pt x="323425" y="223863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026E089-D832-CDB0-33A2-5BC05D376E08}"/>
                </a:ext>
              </a:extLst>
            </p:cNvPr>
            <p:cNvSpPr/>
            <p:nvPr/>
          </p:nvSpPr>
          <p:spPr>
            <a:xfrm>
              <a:off x="1835262" y="2658771"/>
              <a:ext cx="323425" cy="147062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470625"/>
                  </a:lnTo>
                  <a:lnTo>
                    <a:pt x="323425" y="1470625"/>
                  </a:lnTo>
                </a:path>
              </a:pathLst>
            </a:custGeom>
            <a:noFill/>
            <a:ln w="38100">
              <a:solidFill>
                <a:schemeClr val="accent1">
                  <a:shade val="80000"/>
                  <a:hueOff val="0"/>
                  <a:satOff val="0"/>
                  <a:lumOff val="0"/>
                  <a:alpha val="99000"/>
                </a:schemeClr>
              </a:solidFill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90C8DDD-D2F5-2692-6A2A-F5D8189A95BB}"/>
                </a:ext>
              </a:extLst>
            </p:cNvPr>
            <p:cNvSpPr/>
            <p:nvPr/>
          </p:nvSpPr>
          <p:spPr>
            <a:xfrm>
              <a:off x="1835262" y="2658771"/>
              <a:ext cx="323425" cy="6296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29684"/>
                  </a:lnTo>
                  <a:lnTo>
                    <a:pt x="323425" y="629684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866E050-8D1C-C8B1-ABB7-2DF6089F31CB}"/>
                </a:ext>
              </a:extLst>
            </p:cNvPr>
            <p:cNvSpPr/>
            <p:nvPr/>
          </p:nvSpPr>
          <p:spPr>
            <a:xfrm>
              <a:off x="2404899" y="1645259"/>
              <a:ext cx="3829615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829615" y="0"/>
                  </a:moveTo>
                  <a:lnTo>
                    <a:pt x="3829615" y="151935"/>
                  </a:lnTo>
                  <a:lnTo>
                    <a:pt x="0" y="151935"/>
                  </a:lnTo>
                  <a:lnTo>
                    <a:pt x="0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F3897B4-B375-7B0C-A371-5F1E433D69FF}"/>
                </a:ext>
              </a:extLst>
            </p:cNvPr>
            <p:cNvSpPr/>
            <p:nvPr/>
          </p:nvSpPr>
          <p:spPr>
            <a:xfrm>
              <a:off x="5272482" y="1165909"/>
              <a:ext cx="2079177" cy="479349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Trebuchet MS" panose="020B0603020202020204" pitchFamily="34" charset="0"/>
                </a:rPr>
                <a:t>MAIN DISPLAY</a:t>
              </a:r>
              <a:endParaRPr lang="en-IN" sz="2400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91410B2-9F55-6A59-CFD1-192B8B1F26F0}"/>
                </a:ext>
              </a:extLst>
            </p:cNvPr>
            <p:cNvSpPr/>
            <p:nvPr/>
          </p:nvSpPr>
          <p:spPr>
            <a:xfrm>
              <a:off x="1692852" y="1946724"/>
              <a:ext cx="1606349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>
                  <a:latin typeface="Trebuchet MS" panose="020B0603020202020204" pitchFamily="34" charset="0"/>
                </a:rPr>
                <a:t>Information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>
                  <a:latin typeface="Trebuchet MS" panose="020B0603020202020204" pitchFamily="34" charset="0"/>
                </a:rPr>
                <a:t>(Home Page)</a:t>
              </a:r>
              <a:endParaRPr lang="en-IN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1B92A7C-1E06-0201-274E-8F7CAA4629C3}"/>
                </a:ext>
              </a:extLst>
            </p:cNvPr>
            <p:cNvSpPr/>
            <p:nvPr/>
          </p:nvSpPr>
          <p:spPr>
            <a:xfrm>
              <a:off x="2158688" y="2932432"/>
              <a:ext cx="1606349" cy="712046"/>
            </a:xfrm>
            <a:custGeom>
              <a:avLst/>
              <a:gdLst>
                <a:gd name="csX0" fmla="*/ 0 w 1606349"/>
                <a:gd name="csY0" fmla="*/ 0 h 712046"/>
                <a:gd name="csX1" fmla="*/ 1606349 w 1606349"/>
                <a:gd name="csY1" fmla="*/ 0 h 712046"/>
                <a:gd name="csX2" fmla="*/ 1606349 w 1606349"/>
                <a:gd name="csY2" fmla="*/ 712046 h 712046"/>
                <a:gd name="csX3" fmla="*/ 0 w 1606349"/>
                <a:gd name="csY3" fmla="*/ 712046 h 712046"/>
                <a:gd name="csX4" fmla="*/ 0 w 1606349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6349" h="712046">
                  <a:moveTo>
                    <a:pt x="0" y="0"/>
                  </a:moveTo>
                  <a:lnTo>
                    <a:pt x="1606349" y="0"/>
                  </a:lnTo>
                  <a:lnTo>
                    <a:pt x="1606349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effectLst>
              <a:softEdge rad="12700"/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PNR / Booking Details</a:t>
              </a: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4968775-1201-3FE6-869D-A9A8B92BAD32}"/>
                </a:ext>
              </a:extLst>
            </p:cNvPr>
            <p:cNvSpPr/>
            <p:nvPr/>
          </p:nvSpPr>
          <p:spPr>
            <a:xfrm>
              <a:off x="2158688" y="3773374"/>
              <a:ext cx="1606975" cy="712046"/>
            </a:xfrm>
            <a:custGeom>
              <a:avLst/>
              <a:gdLst>
                <a:gd name="csX0" fmla="*/ 0 w 1606975"/>
                <a:gd name="csY0" fmla="*/ 0 h 712046"/>
                <a:gd name="csX1" fmla="*/ 1606975 w 1606975"/>
                <a:gd name="csY1" fmla="*/ 0 h 712046"/>
                <a:gd name="csX2" fmla="*/ 1606975 w 1606975"/>
                <a:gd name="csY2" fmla="*/ 712046 h 712046"/>
                <a:gd name="csX3" fmla="*/ 0 w 1606975"/>
                <a:gd name="csY3" fmla="*/ 712046 h 712046"/>
                <a:gd name="csX4" fmla="*/ 0 w 1606975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6975" h="712046">
                  <a:moveTo>
                    <a:pt x="0" y="0"/>
                  </a:moveTo>
                  <a:lnTo>
                    <a:pt x="1606975" y="0"/>
                  </a:lnTo>
                  <a:lnTo>
                    <a:pt x="1606975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Flight Status</a:t>
              </a: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D039C91-8E29-4C65-ADEB-841C62903455}"/>
                </a:ext>
              </a:extLst>
            </p:cNvPr>
            <p:cNvSpPr/>
            <p:nvPr/>
          </p:nvSpPr>
          <p:spPr>
            <a:xfrm>
              <a:off x="2158688" y="4541388"/>
              <a:ext cx="1594045" cy="712046"/>
            </a:xfrm>
            <a:custGeom>
              <a:avLst/>
              <a:gdLst>
                <a:gd name="csX0" fmla="*/ 0 w 1594045"/>
                <a:gd name="csY0" fmla="*/ 0 h 712046"/>
                <a:gd name="csX1" fmla="*/ 1594045 w 1594045"/>
                <a:gd name="csY1" fmla="*/ 0 h 712046"/>
                <a:gd name="csX2" fmla="*/ 1594045 w 1594045"/>
                <a:gd name="csY2" fmla="*/ 712046 h 712046"/>
                <a:gd name="csX3" fmla="*/ 0 w 1594045"/>
                <a:gd name="csY3" fmla="*/ 712046 h 712046"/>
                <a:gd name="csX4" fmla="*/ 0 w 1594045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94045" h="712046">
                  <a:moveTo>
                    <a:pt x="0" y="0"/>
                  </a:moveTo>
                  <a:lnTo>
                    <a:pt x="1594045" y="0"/>
                  </a:lnTo>
                  <a:lnTo>
                    <a:pt x="1594045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Boarding Call Alerts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8ABB1A0-7549-46D5-B76C-9A5A915D652A}"/>
                </a:ext>
              </a:extLst>
            </p:cNvPr>
            <p:cNvSpPr/>
            <p:nvPr/>
          </p:nvSpPr>
          <p:spPr>
            <a:xfrm>
              <a:off x="2158688" y="5447154"/>
              <a:ext cx="2235512" cy="1010045"/>
            </a:xfrm>
            <a:custGeom>
              <a:avLst/>
              <a:gdLst>
                <a:gd name="csX0" fmla="*/ 0 w 1623908"/>
                <a:gd name="csY0" fmla="*/ 0 h 1010045"/>
                <a:gd name="csX1" fmla="*/ 1623908 w 1623908"/>
                <a:gd name="csY1" fmla="*/ 0 h 1010045"/>
                <a:gd name="csX2" fmla="*/ 1623908 w 1623908"/>
                <a:gd name="csY2" fmla="*/ 1010045 h 1010045"/>
                <a:gd name="csX3" fmla="*/ 0 w 1623908"/>
                <a:gd name="csY3" fmla="*/ 1010045 h 1010045"/>
                <a:gd name="csX4" fmla="*/ 0 w 1623908"/>
                <a:gd name="csY4" fmla="*/ 0 h 1010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23908" h="1010045">
                  <a:moveTo>
                    <a:pt x="0" y="0"/>
                  </a:moveTo>
                  <a:lnTo>
                    <a:pt x="1623908" y="0"/>
                  </a:lnTo>
                  <a:lnTo>
                    <a:pt x="1623908" y="1010045"/>
                  </a:lnTo>
                  <a:lnTo>
                    <a:pt x="0" y="1010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n>
                    <a:solidFill>
                      <a:srgbClr val="DD8383"/>
                    </a:solidFill>
                  </a:ln>
                  <a:solidFill>
                    <a:srgbClr val="FF0000"/>
                  </a:solidFill>
                  <a:latin typeface="Trebuchet MS" panose="020B0603020202020204" pitchFamily="34" charset="0"/>
                </a:rPr>
                <a:t>Lounge Access, Location &amp; availability (Extended Feature)</a:t>
              </a: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3B2E11-B427-C4D7-8F5A-3650BE191A2F}"/>
                </a:ext>
              </a:extLst>
            </p:cNvPr>
            <p:cNvSpPr/>
            <p:nvPr/>
          </p:nvSpPr>
          <p:spPr>
            <a:xfrm>
              <a:off x="3848389" y="1946724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Language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>
                  <a:latin typeface="Trebuchet MS" panose="020B0603020202020204" pitchFamily="34" charset="0"/>
                </a:rPr>
                <a:t>Settings</a:t>
              </a:r>
              <a:endParaRPr lang="en-IN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4A5E730-65FD-64BA-4F08-5D930567951E}"/>
                </a:ext>
              </a:extLst>
            </p:cNvPr>
            <p:cNvSpPr/>
            <p:nvPr/>
          </p:nvSpPr>
          <p:spPr>
            <a:xfrm>
              <a:off x="4204413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Device &amp; Notification Language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17F7607-40C0-5E7E-12B4-410F70589A2A}"/>
                </a:ext>
              </a:extLst>
            </p:cNvPr>
            <p:cNvSpPr/>
            <p:nvPr/>
          </p:nvSpPr>
          <p:spPr>
            <a:xfrm>
              <a:off x="4204413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Voice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Language</a:t>
              </a: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BEF098D-DA0D-2D67-8DFD-7CCEA423DC9D}"/>
                </a:ext>
              </a:extLst>
            </p:cNvPr>
            <p:cNvSpPr/>
            <p:nvPr/>
          </p:nvSpPr>
          <p:spPr>
            <a:xfrm>
              <a:off x="5571543" y="1946724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Display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>
                  <a:latin typeface="Trebuchet MS" panose="020B0603020202020204" pitchFamily="34" charset="0"/>
                </a:rPr>
                <a:t>Settings</a:t>
              </a:r>
              <a:endParaRPr lang="en-IN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8772BF-F2DB-2A96-F95B-90D2D2F50740}"/>
                </a:ext>
              </a:extLst>
            </p:cNvPr>
            <p:cNvSpPr/>
            <p:nvPr/>
          </p:nvSpPr>
          <p:spPr>
            <a:xfrm>
              <a:off x="5927566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Brightness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42FF98E-E501-E2AD-4E5F-47CAC381B475}"/>
                </a:ext>
              </a:extLst>
            </p:cNvPr>
            <p:cNvSpPr/>
            <p:nvPr/>
          </p:nvSpPr>
          <p:spPr>
            <a:xfrm>
              <a:off x="5927566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Text Size</a:t>
              </a: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4CDD7F2-61EE-A88E-EE37-631050483FDE}"/>
                </a:ext>
              </a:extLst>
            </p:cNvPr>
            <p:cNvSpPr/>
            <p:nvPr/>
          </p:nvSpPr>
          <p:spPr>
            <a:xfrm>
              <a:off x="5927566" y="4980044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Always ON Display</a:t>
              </a: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CDBB2C0-DB1E-62BE-71E3-FC7AEC104C06}"/>
                </a:ext>
              </a:extLst>
            </p:cNvPr>
            <p:cNvSpPr/>
            <p:nvPr/>
          </p:nvSpPr>
          <p:spPr>
            <a:xfrm>
              <a:off x="7294696" y="1946724"/>
              <a:ext cx="1780116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Sound &amp; Haptic Settings</a:t>
              </a: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0002DC9-09FF-D619-B2D2-353E1A23B5A6}"/>
                </a:ext>
              </a:extLst>
            </p:cNvPr>
            <p:cNvSpPr/>
            <p:nvPr/>
          </p:nvSpPr>
          <p:spPr>
            <a:xfrm>
              <a:off x="7650719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Volume</a:t>
              </a: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B8B7236-5BA8-A68B-405C-B7BE5DAFBF97}"/>
                </a:ext>
              </a:extLst>
            </p:cNvPr>
            <p:cNvSpPr/>
            <p:nvPr/>
          </p:nvSpPr>
          <p:spPr>
            <a:xfrm>
              <a:off x="7650719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>
                  <a:latin typeface="Trebuchet MS" panose="020B0603020202020204" pitchFamily="34" charset="0"/>
                </a:rPr>
                <a:t>Vibration</a:t>
              </a:r>
              <a:endParaRPr lang="en-IN" sz="1500" b="1" kern="1200" spc="20" dirty="0">
                <a:latin typeface="Trebuchet MS" panose="020B0603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8C704465-1191-47DF-EC8E-CB42327EBB96}"/>
                </a:ext>
              </a:extLst>
            </p:cNvPr>
            <p:cNvSpPr/>
            <p:nvPr/>
          </p:nvSpPr>
          <p:spPr>
            <a:xfrm>
              <a:off x="9267066" y="1945521"/>
              <a:ext cx="1619654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About Device</a:t>
              </a: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7F88FBC-1AD2-97CF-40DB-72C97422F939}"/>
                </a:ext>
              </a:extLst>
            </p:cNvPr>
            <p:cNvSpPr/>
            <p:nvPr/>
          </p:nvSpPr>
          <p:spPr>
            <a:xfrm>
              <a:off x="9621523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Device ID</a:t>
              </a: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BD36922-D031-FF27-7EE8-2A6823D26DC0}"/>
                </a:ext>
              </a:extLst>
            </p:cNvPr>
            <p:cNvSpPr/>
            <p:nvPr/>
          </p:nvSpPr>
          <p:spPr>
            <a:xfrm>
              <a:off x="9621523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>
                  <a:latin typeface="Trebuchet MS" panose="020B0603020202020204" pitchFamily="34" charset="0"/>
                </a:rPr>
                <a:t>Version</a:t>
              </a:r>
              <a:endParaRPr lang="en-IN" sz="1500" b="1" kern="1200" spc="20" dirty="0">
                <a:latin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277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22DC-1C87-5DD8-36AA-72283324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4F12134-6221-3247-2166-E2658445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Exploded 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87145-973C-D79A-CD0F-DCC00593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4DB04-2BEB-3D12-0CB4-279167B23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2" r="8242"/>
          <a:stretch>
            <a:fillRect/>
          </a:stretch>
        </p:blipFill>
        <p:spPr>
          <a:xfrm>
            <a:off x="2638093" y="1459743"/>
            <a:ext cx="6884277" cy="471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16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!</a:t>
            </a:r>
            <a:endParaRPr lang="en-IN" dirty="0"/>
          </a:p>
        </p:txBody>
      </p:sp>
      <p:pic>
        <p:nvPicPr>
          <p:cNvPr id="2" name="pic">
            <a:extLst>
              <a:ext uri="{FF2B5EF4-FFF2-40B4-BE49-F238E27FC236}">
                <a16:creationId xmlns:a16="http://schemas.microsoft.com/office/drawing/2014/main" id="{2F2AA2EC-0EF6-8C14-1AFD-BD987BE30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5150" y="3108994"/>
            <a:ext cx="2426433" cy="1275834"/>
          </a:xfrm>
          <a:prstGeom prst="rect">
            <a:avLst/>
          </a:prstGeom>
        </p:spPr>
      </p:pic>
      <p:pic>
        <p:nvPicPr>
          <p:cNvPr id="3" name="pic">
            <a:extLst>
              <a:ext uri="{FF2B5EF4-FFF2-40B4-BE49-F238E27FC236}">
                <a16:creationId xmlns:a16="http://schemas.microsoft.com/office/drawing/2014/main" id="{EBA45E90-0245-650C-A35D-8FE2DE723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68537" y="3193475"/>
            <a:ext cx="1421331" cy="138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8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5129</TotalTime>
  <Words>592</Words>
  <Application>Microsoft Office PowerPoint</Application>
  <PresentationFormat>Widescreen</PresentationFormat>
  <Paragraphs>188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Trebuchet MS</vt:lpstr>
      <vt:lpstr>Trebuchet MS Bold</vt:lpstr>
      <vt:lpstr>Office Theme</vt:lpstr>
      <vt:lpstr>PowerPoint Presentation</vt:lpstr>
      <vt:lpstr>Components Selection</vt:lpstr>
      <vt:lpstr>GPIO Mapping</vt:lpstr>
      <vt:lpstr>Power Architecture &amp; Boot Sequence</vt:lpstr>
      <vt:lpstr>Power Consumption &amp; Dissipation</vt:lpstr>
      <vt:lpstr>Reset Scheme and Interrupt Mapping</vt:lpstr>
      <vt:lpstr>CPU Selection and Memory Requirement</vt:lpstr>
      <vt:lpstr>IDE, OS, CLI &amp; Device Driver </vt:lpstr>
      <vt:lpstr>Device Menu</vt:lpstr>
      <vt:lpstr>Exploded View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M.KATHIRSELVAM</dc:creator>
  <cp:lastModifiedBy>Nithilan Saravanan</cp:lastModifiedBy>
  <cp:revision>49</cp:revision>
  <dcterms:created xsi:type="dcterms:W3CDTF">2025-04-10T02:09:38Z</dcterms:created>
  <dcterms:modified xsi:type="dcterms:W3CDTF">2026-01-20T02:37:18Z</dcterms:modified>
</cp:coreProperties>
</file>